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73" r:id="rId4"/>
    <p:sldId id="258" r:id="rId5"/>
    <p:sldId id="275" r:id="rId6"/>
    <p:sldId id="259" r:id="rId7"/>
    <p:sldId id="260" r:id="rId8"/>
    <p:sldId id="261" r:id="rId9"/>
    <p:sldId id="262" r:id="rId10"/>
    <p:sldId id="263" r:id="rId11"/>
    <p:sldId id="264" r:id="rId12"/>
    <p:sldId id="267" r:id="rId13"/>
    <p:sldId id="268" r:id="rId14"/>
    <p:sldId id="274" r:id="rId15"/>
    <p:sldId id="27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6DDE0E-80ED-4F4A-8360-26F397706BD0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805714-A997-471D-9552-E1C78E743A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7463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805714-A997-471D-9552-E1C78E743ACC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31234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3DCB6-09A6-EC97-1767-684DF72EAC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A9B989-CE32-40F0-980C-039F800375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93537-AC13-67D4-9177-8FA1F1BF1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D173E-4786-44C8-8E9D-B52CC1421896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42B0D7-CF7A-9EC2-3DAD-877E00AF2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BE300-1AFA-D2E2-3FE0-90D0F691D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2A865-6562-4186-B896-4BB02C5474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0553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18125-3C60-1299-6112-33DE8F9E0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C84CB1-9E42-E6E2-BAC5-40AA07C295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00B37E-19CB-2B20-3F07-295BA0C46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D173E-4786-44C8-8E9D-B52CC1421896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F2F0FC-AF56-2439-8003-8D32F413E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87F021-20A0-B882-04D1-061DCE5D4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2A865-6562-4186-B896-4BB02C5474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8133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E24F7-504B-5ED6-34E8-0C2923DB9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B2C802-8D5A-9839-C91A-89B7695840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51E7A-F58B-9CBB-E7EC-12618B39E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D173E-4786-44C8-8E9D-B52CC1421896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617098-63D5-E291-8B6E-07D0A3AA3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82E47E-72BA-96A1-C54E-B56DC2DEC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2A865-6562-4186-B896-4BB02C5474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66843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D808E-CF69-0DF7-4994-E9FB34DD1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2B74CE-6246-A232-BA56-298EE8E0CF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E3D9B0-3E49-6923-81B5-4290C3FC0A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AF3D34-CFC7-B9A6-BCA1-BFC55BD32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D173E-4786-44C8-8E9D-B52CC1421896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F1BC35-A871-D0A0-8A19-2D4BB82C3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251F25-556A-92AA-540D-A467DDD73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2A865-6562-4186-B896-4BB02C5474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960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46906-A01A-9FBC-CBAF-2A3E8C384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8A1E0A-60D8-08D9-F59E-C814A9F667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AA370D-47BE-DC12-1EEA-D9B2952AE7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CC1C4E-3F57-0DE1-E11F-62E1DB5937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204406-F36D-F2D3-2EAB-4F25186001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E5CA73-FF9C-D4ED-F379-1499FE2CD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D173E-4786-44C8-8E9D-B52CC1421896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79BF8A-7B44-2DEC-2747-3F14F1EFA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C5C41A-5F7C-248A-8E78-1A611B668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2A865-6562-4186-B896-4BB02C5474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86079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4CA70-0BE7-16BC-5D91-C55FF721A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6D9FA6-8B1F-F10F-C58D-1020FA13E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D173E-4786-44C8-8E9D-B52CC1421896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64A48F-90A1-260E-BA68-A68A35D67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8DC8B1-D29A-43AE-D92A-38DC02BA7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2A865-6562-4186-B896-4BB02C5474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9763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271B10-BE52-1CA9-595B-3BC9C54F8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D173E-4786-44C8-8E9D-B52CC1421896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AAA043-4188-FFAE-84B3-5A971C44E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30055C-7CC7-63E9-C768-C40F527C9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2A865-6562-4186-B896-4BB02C5474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9042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8D841-B016-AB25-FA39-7E15BC8AF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25CB15-875C-D64D-51B2-6673930B40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6630ED-C05D-1641-B739-3D6320B18B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5E65B8-9B1A-8001-F489-F2B56F532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D173E-4786-44C8-8E9D-B52CC1421896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373C56-2103-589C-237C-5F6B09397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BEC213-72AD-2DCB-E7D7-7DD3885A8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2A865-6562-4186-B896-4BB02C5474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49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69866-7303-B20A-80F1-48E0D19F8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C45977-E89B-DB06-449E-6567B44859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7C1E46-157C-1C39-E5E7-2CAA062691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966474-DF80-1332-83C2-CB386CE9D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D173E-4786-44C8-8E9D-B52CC1421896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740A57-1399-27ED-9A0E-4B2EC3663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648C20-9204-E4B9-1D24-E9CB8DB53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2A865-6562-4186-B896-4BB02C5474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67068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C9495-D520-C276-6021-84B3D4AD6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D78777-E5A3-B477-A161-D62F580552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E2967-832F-D24B-25E4-99E604B13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D173E-4786-44C8-8E9D-B52CC1421896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70BE80-A1E3-3A15-7E37-152C45430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72A278-1847-891C-F33D-DA298A5FD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2A865-6562-4186-B896-4BB02C5474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4853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7F6592-B7DB-5C43-0529-CD781E84FD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CAB7E9-B160-237A-A144-23E1A6D8BC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30E8E2-D1FB-E5D6-87F9-74A3DD9FE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D173E-4786-44C8-8E9D-B52CC1421896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40CA0B-15F6-9896-E2E7-B0CC15B9A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E10DD0-142D-6075-24DD-6A706478B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2A865-6562-4186-B896-4BB02C5474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7606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D0D533-1627-5C5E-14B3-E5A0B5260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BA8260-27FE-03CD-3AF9-77E42C75AF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602153-89F6-A4FA-7EE8-F28458EB33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3D173E-4786-44C8-8E9D-B52CC1421896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2A01C6-F753-4F93-9EAC-A037A26E38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F58F06-BCA2-BBC9-20F9-BB977E3F34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D2A865-6562-4186-B896-4BB02C5474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1571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2EB11-873F-4BE9-A465-52004A6FFB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5158" y="1678591"/>
            <a:ext cx="11059886" cy="1290629"/>
          </a:xfrm>
        </p:spPr>
        <p:txBody>
          <a:bodyPr>
            <a:no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Traffic Flow Analysis using Poisson and Markov Chains</a:t>
            </a:r>
            <a:endParaRPr lang="en-IN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B4DDFB-0F6D-6681-3413-54AC07CC1521}"/>
              </a:ext>
            </a:extLst>
          </p:cNvPr>
          <p:cNvSpPr txBox="1"/>
          <p:nvPr/>
        </p:nvSpPr>
        <p:spPr>
          <a:xfrm>
            <a:off x="2604734" y="3023122"/>
            <a:ext cx="73607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UBA 5326 PROBABILISTIC METHOD AND LINEAR ALGEBRA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2" descr="Saveetha Institute of Medical and Technical Sciences ...">
            <a:extLst>
              <a:ext uri="{FF2B5EF4-FFF2-40B4-BE49-F238E27FC236}">
                <a16:creationId xmlns:a16="http://schemas.microsoft.com/office/drawing/2014/main" id="{CF9CC5BD-6B5C-B213-14F9-69B4D50B96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3617"/>
            <a:ext cx="12191999" cy="103224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14CC9D6-7B1E-E4C1-ECDB-AE4D1B7E9A80}"/>
              </a:ext>
            </a:extLst>
          </p:cNvPr>
          <p:cNvSpPr txBox="1"/>
          <p:nvPr/>
        </p:nvSpPr>
        <p:spPr>
          <a:xfrm>
            <a:off x="6669334" y="4453209"/>
            <a:ext cx="456246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Devadharshini E-[192524483]</a:t>
            </a:r>
            <a:endParaRPr lang="en-GB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Janani B-[192521052]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F10840-D7D6-E3AD-B4AC-4C5C46EDFEE5}"/>
              </a:ext>
            </a:extLst>
          </p:cNvPr>
          <p:cNvSpPr txBox="1"/>
          <p:nvPr/>
        </p:nvSpPr>
        <p:spPr>
          <a:xfrm>
            <a:off x="466516" y="4453209"/>
            <a:ext cx="274889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  <a:p>
            <a:r>
              <a:rPr lang="en-GB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Dr.M.Rameswari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
Dr. Gowri Senthil
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2332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D1ABD-264E-0167-967B-652AA1068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2BF9E21-33FC-7575-81D8-655BE89669C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408533"/>
            <a:ext cx="3013967" cy="5185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Module 1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Module 2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6EE6B4-49D1-411D-3A29-F0CF5E50A9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8783"/>
            <a:ext cx="1219354" cy="108131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0E22D39-FE5F-6832-0110-51E5727841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4046" y="-2429"/>
            <a:ext cx="917954" cy="1087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7850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F5C4B-676D-5C2C-82D3-C71991F55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REVEIW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E2FEE00-2407-BC07-8BB7-6BD1EA9059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54539802"/>
              </p:ext>
            </p:extLst>
          </p:nvPr>
        </p:nvGraphicFramePr>
        <p:xfrm>
          <a:off x="0" y="1825625"/>
          <a:ext cx="12192000" cy="53725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2508771654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3046836296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3615215681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1590310872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111967514"/>
                    </a:ext>
                  </a:extLst>
                </a:gridCol>
              </a:tblGrid>
              <a:tr h="4627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Author (Year)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Method Used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Main Idea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Limitation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Author (Year)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7409819"/>
                  </a:ext>
                </a:extLst>
              </a:tr>
              <a:tr h="11410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Besenczi et al. (2021)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Markov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Used Markov chains to simulate traffic flow in large road networks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Needs large data and computation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Besenczi et al. (2021)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9582891"/>
                  </a:ext>
                </a:extLst>
              </a:tr>
              <a:tr h="7987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El Fawal et al. (2024)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MMPP (Poisson + Markov)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Combined Poisson and Markov to model dynamic traffic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Complex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El Fawal et al. (2024)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8730740"/>
                  </a:ext>
                </a:extLst>
              </a:tr>
              <a:tr h="11410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Joubari et al. (2022)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Markov Chain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Modeled vehicle movement in multi-lane highways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Only for highways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Joubari et al. (2022)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0624850"/>
                  </a:ext>
                </a:extLst>
              </a:tr>
              <a:tr h="7987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El Fawal et al. (2024)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MMPP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Modeled heterogeneous traffic systems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 complexity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El Fawal et al. (2024)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3369131"/>
                  </a:ext>
                </a:extLst>
              </a:tr>
              <a:tr h="7987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Poisson Models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Poisson Distribution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Used for vehicle arrival prediction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Assumes independent traffic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Poisson Models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4511601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E9D92AEE-868E-5F66-C2A3-7B6E35C1C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8783"/>
            <a:ext cx="1219354" cy="108131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5778215-8FAF-B581-3D89-7B62CA4F66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4046" y="-2429"/>
            <a:ext cx="917954" cy="1087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4163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258A8-DA1D-63B7-98CC-9978A9122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670"/>
            <a:ext cx="10515600" cy="696912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D17BB-6739-8368-1367-67E61EFE59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9720" y="1278000"/>
            <a:ext cx="10949909" cy="4545858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the rapid growth of urban populations and vehicles, traffic congestion has become a critical problem in cities worldwide.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traffic analysis helps in predicting congestion patterns, optimizing signal timings, and improving road safety.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combines Poisson distribution for modeling vehicle arrivals and Markov Chains for predicting traffic congestion in the next time interval, offering a statistical and predictive approach for traffic management.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9FCBFD-44B7-32F6-7082-F81258E297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4450" y="34519"/>
            <a:ext cx="927100" cy="8221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5E21D29-D977-112F-FF2C-C975D042EB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93500" y="-15129"/>
            <a:ext cx="698500" cy="827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0056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A7E18-E79D-BCC5-84E8-40240091A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8A5DCE-5E7A-796D-17EE-06ECFB34E3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3915" y="1690688"/>
            <a:ext cx="7565572" cy="4486275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traffic monitoring systems rely on fixed schedules or manual observation, which cannot efficiently handle dynamic traffic patterns. This leads to poor congestion management and delays.</a:t>
            </a:r>
            <a:r>
              <a:rPr lang="en-US" dirty="0"/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fail to accurately predict these variations in real time.</a:t>
            </a:r>
          </a:p>
          <a:p>
            <a:endParaRPr lang="en-IN" dirty="0"/>
          </a:p>
        </p:txBody>
      </p:sp>
      <p:pic>
        <p:nvPicPr>
          <p:cNvPr id="3074" name="Picture 2" descr="Computational framework for optimizing traffic flow could be the beginning  of a road revolution">
            <a:extLst>
              <a:ext uri="{FF2B5EF4-FFF2-40B4-BE49-F238E27FC236}">
                <a16:creationId xmlns:a16="http://schemas.microsoft.com/office/drawing/2014/main" id="{F412D869-B24C-1242-6BD8-BC757A2222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4113" y="1948542"/>
            <a:ext cx="3947887" cy="2960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632D394-522F-7679-8B5A-A0B73A9710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4450" y="34519"/>
            <a:ext cx="927100" cy="8221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90D459B-C634-DF6E-D00F-5DBC112846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93500" y="-15129"/>
            <a:ext cx="698500" cy="827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28385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439A7-7A65-555F-D5D0-751AF9B8A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7411"/>
            <a:ext cx="10515600" cy="798302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22A8145-D998-1654-CD47-E7DFFDD3F10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04800" y="1519783"/>
            <a:ext cx="7445829" cy="47956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model the number of vehicles passing through a road segment per minute using Poisson distribution.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predict the next-state traffic congestion (Low, Medium, High) using Markov Chains.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insights that can help in traffic signal optimization and urban planning.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6CA8E1-F61A-78A6-4400-6FA60F0B3F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8783"/>
            <a:ext cx="1219354" cy="108131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69BB45-4548-9C42-679C-3CCCCCF139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4046" y="-2429"/>
            <a:ext cx="917954" cy="1087660"/>
          </a:xfrm>
          <a:prstGeom prst="rect">
            <a:avLst/>
          </a:prstGeom>
        </p:spPr>
      </p:pic>
      <p:pic>
        <p:nvPicPr>
          <p:cNvPr id="4098" name="Picture 2" descr="Traffic Flow Theory and Driver Behavioral Modeling | Transportation Program  | School of Engineering &amp; Applied Science | The George Washington University">
            <a:extLst>
              <a:ext uri="{FF2B5EF4-FFF2-40B4-BE49-F238E27FC236}">
                <a16:creationId xmlns:a16="http://schemas.microsoft.com/office/drawing/2014/main" id="{21C51DF7-4973-A291-1C34-FABD3FE211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2143" y="2538836"/>
            <a:ext cx="4299858" cy="2415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29181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A99C2-E9B4-FFD4-B089-AB898B8D6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8828" y="207960"/>
            <a:ext cx="10515600" cy="73433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B2F7F7-6662-9AC1-BEA7-69C5E1816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028" y="1534885"/>
            <a:ext cx="11157858" cy="558437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divided into two main modules: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Vehicle Arrival Modelling (Poisson Distribution)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Traffic Congestion Prediction (Markov Chain</a:t>
            </a:r>
            <a:r>
              <a:rPr lang="en-IN" dirty="0"/>
              <a:t>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module performs specific functions to ensure smooth working of the system.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983E4A-7538-F309-F0FC-F409ED4756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8783"/>
            <a:ext cx="1219354" cy="10813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C5A65EA-AE95-3654-C3CE-7CD02C52C8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4046" y="-15129"/>
            <a:ext cx="917954" cy="1087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3722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132DE-00A2-8652-577A-CF3AA1CF9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8996" y="533400"/>
            <a:ext cx="9925050" cy="988106"/>
          </a:xfrm>
        </p:spPr>
        <p:txBody>
          <a:bodyPr>
            <a:no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Vehicle Arrival Modelling 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(Poisson Distribution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C9138BF4-9953-A9C7-2460-2C933F0CA821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 bwMode="auto">
              <a:xfrm>
                <a:off x="431042" y="1322689"/>
                <a:ext cx="9028719" cy="45391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algn="just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This module focuses on analyzing the number of vehicles arriving at a road segment per minute. </a:t>
                </a:r>
              </a:p>
              <a:p>
                <a:pPr algn="just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 uses the Poisson distribution to model random vehicle arrivals based on the average rate (</a:t>
                </a:r>
                <a14:m>
                  <m:oMath xmlns:m="http://schemas.openxmlformats.org/officeDocument/2006/math">
                    <m:r>
                      <a:rPr lang="en-US" b="0" i="1"/>
                      <m:t>𝜆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 </a:t>
                </a:r>
              </a:p>
              <a:p>
                <a:pPr algn="just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output helps in determining the traffic intensity.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 algn="just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0" lang="en-US" altLang="en-US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C9138BF4-9953-A9C7-2460-2C933F0CA8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431042" y="1322689"/>
                <a:ext cx="9028719" cy="4539191"/>
              </a:xfrm>
              <a:prstGeom prst="rect">
                <a:avLst/>
              </a:prstGeom>
              <a:blipFill>
                <a:blip r:embed="rId2"/>
                <a:stretch>
                  <a:fillRect l="-1215" r="-135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57D7A44E-BE01-7291-CF2E-090C042E38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8783"/>
            <a:ext cx="1219354" cy="108131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997098-068F-5C3D-D6F9-811AFB6D5E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4046" y="-15129"/>
            <a:ext cx="917954" cy="10876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A5615B5-56C2-88D8-B0D7-36FC03F7D5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58581" y="3723007"/>
            <a:ext cx="2591162" cy="857370"/>
          </a:xfrm>
          <a:prstGeom prst="rect">
            <a:avLst/>
          </a:prstGeom>
        </p:spPr>
      </p:pic>
      <p:sp>
        <p:nvSpPr>
          <p:cNvPr id="11" name="Rectangle 4">
            <a:extLst>
              <a:ext uri="{FF2B5EF4-FFF2-40B4-BE49-F238E27FC236}">
                <a16:creationId xmlns:a16="http://schemas.microsoft.com/office/drawing/2014/main" id="{154FB66B-E852-45B5-A180-5B82E310F7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042" y="4798091"/>
            <a:ext cx="7871065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 = number of vehicles arriving per minute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λ\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lambdaλ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average number of vehicles per minute </a:t>
            </a:r>
          </a:p>
        </p:txBody>
      </p:sp>
    </p:spTree>
    <p:extLst>
      <p:ext uri="{BB962C8B-B14F-4D97-AF65-F5344CB8AC3E}">
        <p14:creationId xmlns:p14="http://schemas.microsoft.com/office/powerpoint/2010/main" val="16811772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6D974-41D4-828C-6F47-0EF369D5E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742"/>
            <a:ext cx="10515600" cy="952789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 OUTPUT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D38761-8269-6317-17AD-A7E8F70B15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8783"/>
            <a:ext cx="1219354" cy="10813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41C03AF-1F34-87F9-8257-1640BF8959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4046" y="-15129"/>
            <a:ext cx="917954" cy="10876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FB1FEFF-9E97-1B40-1D72-49A36A55C9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9457" y="1072531"/>
            <a:ext cx="10174589" cy="5446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7273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4A332-29CA-1798-D214-A68445F4B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4553" y="733792"/>
            <a:ext cx="10082893" cy="1087660"/>
          </a:xfrm>
        </p:spPr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Traffic Congestion Prediction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(Markov Chain)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5E795FF-B27F-966F-AB88-7167E9D357F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04801" y="2077368"/>
            <a:ext cx="11800114" cy="35030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predicts the next traffic condition using Markov Chains.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Based on the current traffic state (Low, Medium, High), it uses a transition probability matrix to estimate the next state of congestion.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next-state probability depends only on the current state (Markov property). 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89BEF3-E50A-B63A-E7D6-416CA55A09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8783"/>
            <a:ext cx="1219354" cy="108131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2506793-7B93-7571-97D2-EF28D2BFEE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4046" y="-15129"/>
            <a:ext cx="917954" cy="1087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182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F80DC-4AC5-313C-BDA3-201C9E13D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41375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 OUTPUT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9922BA-BA5C-816B-0070-B419FBF5A0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12" y="0"/>
            <a:ext cx="1219354" cy="10813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FC04F42-1E4B-6F46-101D-BBD972EFAB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4046" y="-15129"/>
            <a:ext cx="917954" cy="1087660"/>
          </a:xfrm>
          <a:prstGeom prst="rect">
            <a:avLst/>
          </a:prstGeom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E6295D0B-A006-6470-6719-240342AC72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1132192" y="1174429"/>
            <a:ext cx="9927616" cy="5302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7527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88A09-C47C-3FF3-3C7C-2BE9BAC01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83810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88422F-3D96-AF7B-7DF3-6965BA784C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8783"/>
            <a:ext cx="1219354" cy="10813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E381739-A951-51FB-E9D4-F289278978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4046" y="-15129"/>
            <a:ext cx="917954" cy="1087660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84431B3F-2DDE-EF9B-C9D0-23B7DA4514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462" y="860269"/>
            <a:ext cx="7625443" cy="54625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Extend to multi-lane and multi-road networks with dynamic transition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probabilities.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Combine with machine learning algorithms for improved prediction accuracy.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 mobile or web applications for public access to real-time traffic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predictions. Incorporate weather and accident data to refine traffic prediction models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pic>
        <p:nvPicPr>
          <p:cNvPr id="2051" name="Picture 3" descr="How AI Traffic Flow Detection Makes Transport Safer and More Efficient">
            <a:extLst>
              <a:ext uri="{FF2B5EF4-FFF2-40B4-BE49-F238E27FC236}">
                <a16:creationId xmlns:a16="http://schemas.microsoft.com/office/drawing/2014/main" id="{AEFE98E0-6641-9E58-6D61-AE93F91AFC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5906" y="2140242"/>
            <a:ext cx="4366094" cy="2910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82628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AB784-2D3E-7A4A-9659-02E7F8EBB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32304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4F1B1C-20C3-023F-CD83-6467FFAA8E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77" y="1676400"/>
            <a:ext cx="10954587" cy="4376057"/>
          </a:xfrm>
        </p:spPr>
        <p:txBody>
          <a:bodyPr>
            <a:normAutofit fontScale="85000"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demonstrates a statistical and predictive approach to traffic analysis. </a:t>
            </a:r>
          </a:p>
          <a:p>
            <a:pPr algn="just">
              <a:lnSpc>
                <a:spcPct val="150000"/>
              </a:lnSpc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Poisson distribution effectively models vehicle arrivals, while Markov Chains provide a simple yet powerful method for predicting traffic congestion. </a:t>
            </a:r>
          </a:p>
          <a:p>
            <a:pPr algn="just">
              <a:lnSpc>
                <a:spcPct val="150000"/>
              </a:lnSpc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integration of these modules in a real-time system helps traffic authorities make proactive decisions, optimize signal timings, and reduce congestion.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020478-388A-9FB6-2F7A-33658341F1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1483"/>
            <a:ext cx="1219354" cy="10813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B20B464-6DB5-1DB0-5873-5BC06BE658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4046" y="-15129"/>
            <a:ext cx="917954" cy="1087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4446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30869-7AB1-64A0-582A-55B6B2FD6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84704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5131C0-37D7-F234-1D72-C5102EE5DF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486" y="1349830"/>
            <a:ext cx="11647714" cy="5421084"/>
          </a:xfrm>
        </p:spPr>
        <p:txBody>
          <a:bodyPr>
            <a:noAutofit/>
          </a:bodyPr>
          <a:lstStyle/>
          <a:p>
            <a:pPr marL="457200" indent="-457200" algn="just">
              <a:lnSpc>
                <a:spcPct val="160000"/>
              </a:lnSpc>
              <a:buFont typeface="+mj-lt"/>
              <a:buAutoNum type="arabicPeriod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Besenczi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Renátó, Norbert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Bátfai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Péter Jeszenszky, Roland Major, Fanny Monori, and Márton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Ispány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"Large-scale simulation of traffic flow using Markov model."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Plos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one 16, no. 2 (2021):</a:t>
            </a:r>
          </a:p>
          <a:p>
            <a:pPr marL="457200" indent="-457200" algn="just">
              <a:lnSpc>
                <a:spcPct val="16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e0246062.El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Fawal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Ahmad Hani, Ali Mansour, and Abbass Nasser. "Markov-modulated Poisson process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machine-to-machine heterogeneous traffic." Applied Sciences 14, no. 18 (2024):</a:t>
            </a:r>
          </a:p>
          <a:p>
            <a:pPr marL="457200" indent="-457200" algn="just">
              <a:lnSpc>
                <a:spcPct val="16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8561.Joubari,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Oumaima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EL, Jalel Ben Othman, and Véronique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Vèque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"Markov chain mobility model for multi-lane highways." Mobile Networks and Applications 27, no. 3 (2022): </a:t>
            </a:r>
          </a:p>
          <a:p>
            <a:pPr marL="457200" indent="-457200" algn="just">
              <a:lnSpc>
                <a:spcPct val="16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1286-1298.El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Fawal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Ahmad Hani, M. A. N. S. O. U. R. Ali, and Nasser Abbass. "Markov Modulated Poisson Processes Modelling for M2M Heterogeneous Traffic." (2024).</a:t>
            </a:r>
          </a:p>
          <a:p>
            <a:pPr marL="457200" indent="-457200" algn="just">
              <a:lnSpc>
                <a:spcPct val="16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Sheldon. M. Ross, Introduction to Probability and Statistics for Engineers and Scientists, Elsevier Academic Press, California, 4th Edition, 2009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685FC4-39F6-D398-FE79-6A57AB83B3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1483"/>
            <a:ext cx="1219354" cy="10813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95ACD8B-5E6E-087E-91DD-F649389B65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4046" y="-15129"/>
            <a:ext cx="917954" cy="1087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57152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17891B9-53E6-D93E-FE8D-009BFFD5D9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1185" y="711070"/>
            <a:ext cx="7355301" cy="5057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5978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337</TotalTime>
  <Words>839</Words>
  <Application>Microsoft Office PowerPoint</Application>
  <PresentationFormat>Widescreen</PresentationFormat>
  <Paragraphs>90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Office Theme</vt:lpstr>
      <vt:lpstr>Real-Time Traffic Flow Analysis using Poisson and Markov Chains</vt:lpstr>
      <vt:lpstr>AGENDA</vt:lpstr>
      <vt:lpstr>LITERATURE REVEIW</vt:lpstr>
      <vt:lpstr>INTRODUCTION</vt:lpstr>
      <vt:lpstr>PROBLEM STATEMENT</vt:lpstr>
      <vt:lpstr>OBJECTIVES</vt:lpstr>
      <vt:lpstr>MODULES OVERVIEW</vt:lpstr>
      <vt:lpstr>Module 1: Vehicle Arrival Modelling  (Poisson Distribution) </vt:lpstr>
      <vt:lpstr>MODULE 1 OUTPUT</vt:lpstr>
      <vt:lpstr>Module 2: Traffic Congestion Prediction (Markov Chain)</vt:lpstr>
      <vt:lpstr>MODULE 2 OUTPUT</vt:lpstr>
      <vt:lpstr>FUTURE SCOPE</vt:lpstr>
      <vt:lpstr>CONCLUSION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 OPERATIONS TOOLKIT USING FUNCTIONS AND ERROR HANDLING</dc:title>
  <dc:creator>Arathana Bramaiya</dc:creator>
  <cp:lastModifiedBy>devadharshini dharshini</cp:lastModifiedBy>
  <cp:revision>10</cp:revision>
  <dcterms:created xsi:type="dcterms:W3CDTF">2026-02-21T14:01:17Z</dcterms:created>
  <dcterms:modified xsi:type="dcterms:W3CDTF">2026-03-25T09:19:34Z</dcterms:modified>
</cp:coreProperties>
</file>