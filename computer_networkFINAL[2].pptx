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8" r:id="rId2"/>
    <p:sldId id="273" r:id="rId3"/>
    <p:sldId id="274" r:id="rId4"/>
    <p:sldId id="256" r:id="rId5"/>
    <p:sldId id="258" r:id="rId6"/>
    <p:sldId id="277" r:id="rId7"/>
    <p:sldId id="276" r:id="rId8"/>
    <p:sldId id="270" r:id="rId9"/>
    <p:sldId id="275" r:id="rId10"/>
    <p:sldId id="262" r:id="rId11"/>
    <p:sldId id="278" r:id="rId12"/>
    <p:sldId id="279" r:id="rId13"/>
    <p:sldId id="280" r:id="rId14"/>
    <p:sldId id="265" r:id="rId15"/>
    <p:sldId id="271" r:id="rId16"/>
    <p:sldId id="272" r:id="rId17"/>
    <p:sldId id="266" r:id="rId18"/>
    <p:sldId id="269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AC678-E69D-441D-91D3-F50765D5D43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19E99-BAC6-462F-BB17-E21440C19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72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19E99-BAC6-462F-BB17-E21440C19D65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33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0FD3-FFDE-FE7D-25A2-36BD906E1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AF7B9-E206-3AAF-4A5C-CA8DDE5AC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CA236-847D-F186-7C56-C937F445F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29B1A-B4A0-E25C-2E6F-05CF4F32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C4BEC-F50D-2679-8F43-C06FCABA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611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EA7C-71BE-7055-8B85-CAE4E666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43ACB-AFB9-7D95-2AB6-A6F061004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F593A-FF6A-1097-D6F1-1C8980FF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EAD02-B2E7-E4B8-BF63-973A3139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E2478-7BC5-177C-8ECF-69DB1E7C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56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F483-E364-711E-13C4-6620EAA5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BA727-633F-7A56-28F3-BF1C64C64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A1E25-3C54-83AA-8377-E1FBC8A3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FF047-6A86-454D-4336-43E1ECA06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03DAC-4650-76A9-7988-C47B5DA2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360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F307-0B51-7EF6-C76C-F17B87D6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566E6-7C53-C1EC-66AC-FA6169CE6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06D5D-D23D-E6F8-64D1-6D3C4227C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79BB8-FBBD-542B-D0E6-E63C1C9DF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65AC2-CD25-7A98-446E-0F025559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D4729-4F4F-AD78-C3DE-3A6C8D60D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08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3C64E-AABF-2FBF-99C6-0B2B8820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95601-E733-BEF8-6BEE-F096455A2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E475F-B8C3-9B7D-F0FB-76AD8C926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419CC-4629-6125-5FCF-1D0FCCB94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8DF0A-F852-C900-3BDE-E258E2146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0A612-0798-B9AE-A67C-EAB7638C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18AAE4-1FE5-E04F-CBC6-73A643339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53E402-C3BB-8EAE-3E10-94D388E4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88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190A-5016-0F3E-A843-7ADF5438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B5E661-F510-A499-B924-08178C9A6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491D-2AD5-46E1-BC2B-451C4BB9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40C29-819A-BEA6-DBD5-7B2A17C0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18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64015C-46E7-0781-D009-A0B7D664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91B96-A47C-64C8-E05C-AD99D4D92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3633C-3820-7651-3C97-34E1B86A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18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E1EC-FD0F-DA97-9CD1-989DA098E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22EF6-C2B8-488A-7010-340D62D2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FA004-E2CA-A002-96FD-4400556B5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DB209-F0A4-1F92-9FA6-C9F3B203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A36BF-CAA9-9BE7-59AE-7A6ECC9C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0F902-0544-203B-2C94-F15A82C7F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9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F6B1-1B87-48C3-23F1-D86A2460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0A127-E49C-20EC-FC4C-7AAAB5B54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995C8-7D02-B610-F71A-A6EA9A653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7D180-F61E-3D25-40F9-C7008CC5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EC489-CBFF-D8CC-CABD-65443507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3CCD9-2611-F053-D7BF-757F82DC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89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8485-9B1C-558B-A2FA-F18098EC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47AED-13CE-287A-F43D-E23242123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5AFAF-574D-00C1-00BC-991D7DCED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3E930-8B9A-1ED2-169E-280C57C4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24F87-3066-9BF9-B270-BCDE8BBAC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668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D71512-C6BA-9FB9-3B78-869498573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15452-05BB-01B5-D919-4DE5A25F7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1284D-37F3-C361-857C-82199BE5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8DCCB-E5CF-7BA3-BD24-651F1C77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5BC19-BF03-D0D0-9D52-6BAFD669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9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164D0-AAB8-02C4-3C3B-C21AB8EAB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780DF-8ADF-5A49-5482-80E60B717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0466C-62C1-8676-A55A-649D1F2C5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B1CBF-DD42-4976-9871-BC29EAB75A7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6BA91-E06D-994D-6839-4460CBFFD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CBE5C-D898-2066-6A02-43471A464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1AE06-B1BA-440B-997B-5113ED85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43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6D1D-784C-B3FA-85E9-133CF9A01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7068" y="1959429"/>
            <a:ext cx="7951177" cy="1851085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TRAFFIC MODELING AND CONGESTION MANAGEMENT SOLUTION FOR MODERN NETWORKING PLATFORMS 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CSA-0732 COMPUTER NETWORKS FOR DATA CENTERS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7B2CD-08A1-62B2-1A0A-1B3693E97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5093" y="4338172"/>
            <a:ext cx="4302369" cy="130407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Devadharshini E – 192524483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Janani .B -192521052</a:t>
            </a:r>
          </a:p>
          <a:p>
            <a:pPr algn="l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Tamizharasi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.k -192512193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386F6-F1A5-7295-AC90-A8FC086D377B}"/>
              </a:ext>
            </a:extLst>
          </p:cNvPr>
          <p:cNvSpPr txBox="1"/>
          <p:nvPr/>
        </p:nvSpPr>
        <p:spPr>
          <a:xfrm>
            <a:off x="7930662" y="4338172"/>
            <a:ext cx="174349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Senthil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P. Rajaram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B6353-1495-71FE-1030-A9487B10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707" y="450513"/>
            <a:ext cx="9659155" cy="125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6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DF31-2DA1-9CA9-AF11-1EAD9D62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1614F-1CC3-FF09-4696-049718BDC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486" y="1584325"/>
            <a:ext cx="9492342" cy="4712381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Architecture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 descr="SIMATS CGPA Calculator">
            <a:extLst>
              <a:ext uri="{FF2B5EF4-FFF2-40B4-BE49-F238E27FC236}">
                <a16:creationId xmlns:a16="http://schemas.microsoft.com/office/drawing/2014/main" id="{8B6740EF-192B-EF4F-39E7-EF146CC22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65" y="274071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Saveetha Institute of Medical and Technical Sciences ...">
            <a:extLst>
              <a:ext uri="{FF2B5EF4-FFF2-40B4-BE49-F238E27FC236}">
                <a16:creationId xmlns:a16="http://schemas.microsoft.com/office/drawing/2014/main" id="{12C3098D-FBBA-969E-4433-51253AB7C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7058" y="283029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40536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6070-F410-7656-48A6-70F39A22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6FB1-1171-78CA-F5A4-F98E9B7B7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57401"/>
            <a:ext cx="9982199" cy="411956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and manages network congestion using simulation tools like Cisco Packet Tracer.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networking environments, the rapid growth of data-intensive applications and real-time services has intensified the need for advanced traffic modeling and effective congestion management strategies.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congestion control mechanisms often struggle to handle the dynamic and heterogeneous nature of today’s networks, leading to latency, packet loss, and reduced Quality of Service (QoS).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SIMATS CGPA Calculator">
            <a:extLst>
              <a:ext uri="{FF2B5EF4-FFF2-40B4-BE49-F238E27FC236}">
                <a16:creationId xmlns:a16="http://schemas.microsoft.com/office/drawing/2014/main" id="{E3C8FA26-EA57-9305-2901-DF48C87CA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15" y="178595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37D57371-9C54-D57E-9795-1BEB5A35D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4966" y="2451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2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C21D-F3FE-44B3-AA2F-C8FBB58C2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046" y="471732"/>
            <a:ext cx="8639908" cy="57455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2E21E-06F4-AAA8-D09D-2E2654253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4886" y="1920410"/>
            <a:ext cx="9633857" cy="2976767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developing advanced traffic modeling and congestion management techniques to improve data flow and network efficiency.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aims to reduce packet loss, delay, and congestion by optimizing bandwidth and ensuring smooth communication across modern networking platforms.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simulation tools like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Packet Tracer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network behavior under varying traffic loads.</a:t>
            </a:r>
          </a:p>
        </p:txBody>
      </p:sp>
      <p:pic>
        <p:nvPicPr>
          <p:cNvPr id="2052" name="Picture 4" descr="Saveetha Institute of Medical and Technical Sciences ...">
            <a:extLst>
              <a:ext uri="{FF2B5EF4-FFF2-40B4-BE49-F238E27FC236}">
                <a16:creationId xmlns:a16="http://schemas.microsoft.com/office/drawing/2014/main" id="{81918E3C-AD12-41EE-DF51-44515629D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0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IMATS CGPA Calculator">
            <a:extLst>
              <a:ext uri="{FF2B5EF4-FFF2-40B4-BE49-F238E27FC236}">
                <a16:creationId xmlns:a16="http://schemas.microsoft.com/office/drawing/2014/main" id="{2352E186-0C52-97B8-7A69-8FEA85EE3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25" y="124405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91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E17F-9FE0-45BF-ED98-089CE94C2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645801"/>
            <a:ext cx="9601200" cy="9944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37D7B-3411-6691-6C9E-51A7C387A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058" y="2002971"/>
            <a:ext cx="9307286" cy="3603172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clear goals: To optimize network performance by accurately modeling traffic patterns and predicting congestion points.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Expected outcomes: Improved data flow efficiency, enhanced QoS (Quality of Service), and scalable network performance for modern platforms.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SIMATS CGPA Calculator">
            <a:extLst>
              <a:ext uri="{FF2B5EF4-FFF2-40B4-BE49-F238E27FC236}">
                <a16:creationId xmlns:a16="http://schemas.microsoft.com/office/drawing/2014/main" id="{98F1EF0B-4FA8-0530-2F7E-F24772554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23" y="87965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9664F35B-16A6-A1A7-A1A5-70B8304BF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0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008169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E785-F90C-6218-AB8F-881F337B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283029"/>
            <a:ext cx="10885714" cy="140765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71D58-6EF3-F92F-7D5A-94933925B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170" y="1948543"/>
            <a:ext cx="10036629" cy="422842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latency, packet loss, and bottlenecks through intelligent congestion management strategies.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networks grow with more users and data, congestion happens — causing delay, packet loss, and poor performance.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methods can’t handle today’s dynamic traffic.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So, our project creates an intelligent and adaptive congestion management system that predicts and controls traffic to keep the network smooth and efficient.</a:t>
            </a:r>
          </a:p>
          <a:p>
            <a:endParaRPr lang="en-IN" dirty="0"/>
          </a:p>
        </p:txBody>
      </p:sp>
      <p:pic>
        <p:nvPicPr>
          <p:cNvPr id="4" name="Picture 6" descr="SIMATS CGPA Calculator">
            <a:extLst>
              <a:ext uri="{FF2B5EF4-FFF2-40B4-BE49-F238E27FC236}">
                <a16:creationId xmlns:a16="http://schemas.microsoft.com/office/drawing/2014/main" id="{A526CDB5-8B26-48A8-96B5-562910AC4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88" y="88957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F2285554-B222-40B5-558A-45D7804F3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0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5776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D745-139B-6200-AFC6-1BB3B2BB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F8C95A-598C-2BFB-4FEB-CC2C78D259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4596877"/>
              </p:ext>
            </p:extLst>
          </p:nvPr>
        </p:nvGraphicFramePr>
        <p:xfrm>
          <a:off x="185057" y="1524000"/>
          <a:ext cx="11691255" cy="4968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251">
                  <a:extLst>
                    <a:ext uri="{9D8B030D-6E8A-4147-A177-3AD203B41FA5}">
                      <a16:colId xmlns:a16="http://schemas.microsoft.com/office/drawing/2014/main" val="1976663745"/>
                    </a:ext>
                  </a:extLst>
                </a:gridCol>
                <a:gridCol w="2338251">
                  <a:extLst>
                    <a:ext uri="{9D8B030D-6E8A-4147-A177-3AD203B41FA5}">
                      <a16:colId xmlns:a16="http://schemas.microsoft.com/office/drawing/2014/main" val="2303116487"/>
                    </a:ext>
                  </a:extLst>
                </a:gridCol>
                <a:gridCol w="2338251">
                  <a:extLst>
                    <a:ext uri="{9D8B030D-6E8A-4147-A177-3AD203B41FA5}">
                      <a16:colId xmlns:a16="http://schemas.microsoft.com/office/drawing/2014/main" val="2296526942"/>
                    </a:ext>
                  </a:extLst>
                </a:gridCol>
                <a:gridCol w="2338251">
                  <a:extLst>
                    <a:ext uri="{9D8B030D-6E8A-4147-A177-3AD203B41FA5}">
                      <a16:colId xmlns:a16="http://schemas.microsoft.com/office/drawing/2014/main" val="1389040907"/>
                    </a:ext>
                  </a:extLst>
                </a:gridCol>
                <a:gridCol w="2338251">
                  <a:extLst>
                    <a:ext uri="{9D8B030D-6E8A-4147-A177-3AD203B41FA5}">
                      <a16:colId xmlns:a16="http://schemas.microsoft.com/office/drawing/2014/main" val="2144416574"/>
                    </a:ext>
                  </a:extLst>
                </a:gridCol>
              </a:tblGrid>
              <a:tr h="993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Author (Year)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Relevance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600168"/>
                  </a:ext>
                </a:extLst>
              </a:tr>
              <a:tr h="993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Mystakidis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Traffic congestion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 &amp; hybrid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Improved accuracy in real-time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Useful for congestion forecasting module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69727"/>
                  </a:ext>
                </a:extLst>
              </a:tr>
              <a:tr h="993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Khan &amp; Ivan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Smart-city traffic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&amp; IoT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congestion detection &amp;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Supports AI use in network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753351"/>
                  </a:ext>
                </a:extLst>
              </a:tr>
              <a:tr h="993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Usama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traffic in AI-IoT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Edge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Reduced packet loss, better throughput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Useful for IoT congestion solutions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178656"/>
                  </a:ext>
                </a:extLst>
              </a:tr>
              <a:tr h="993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Taher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Congestion estimation &amp;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Computational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Optimized routing &amp; queuing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Helps design adaptive congestion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046891"/>
                  </a:ext>
                </a:extLst>
              </a:tr>
            </a:tbl>
          </a:graphicData>
        </a:graphic>
      </p:graphicFrame>
      <p:pic>
        <p:nvPicPr>
          <p:cNvPr id="11" name="Picture 10" descr="SIMATS CGPA Calculator">
            <a:extLst>
              <a:ext uri="{FF2B5EF4-FFF2-40B4-BE49-F238E27FC236}">
                <a16:creationId xmlns:a16="http://schemas.microsoft.com/office/drawing/2014/main" id="{8DCED71E-7D27-2ADE-47A0-BD3A77D29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09" y="72231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Saveetha Institute of Medical and Technical Sciences ...">
            <a:extLst>
              <a:ext uri="{FF2B5EF4-FFF2-40B4-BE49-F238E27FC236}">
                <a16:creationId xmlns:a16="http://schemas.microsoft.com/office/drawing/2014/main" id="{056C22C2-B9DD-32B4-8020-44E987DD0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28249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24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DBD3-73E1-F737-0B64-B7A996BC7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8085" y="87086"/>
            <a:ext cx="10123716" cy="2002971"/>
          </a:xfrm>
        </p:spPr>
        <p:txBody>
          <a:bodyPr/>
          <a:lstStyle/>
          <a:p>
            <a:r>
              <a:rPr lang="en-IN" dirty="0"/>
              <a:t>             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DESIGN/ARCHITECTURE</a:t>
            </a:r>
          </a:p>
        </p:txBody>
      </p:sp>
      <p:pic>
        <p:nvPicPr>
          <p:cNvPr id="4" name="Picture 6" descr="SIMATS CGPA Calculator">
            <a:extLst>
              <a:ext uri="{FF2B5EF4-FFF2-40B4-BE49-F238E27FC236}">
                <a16:creationId xmlns:a16="http://schemas.microsoft.com/office/drawing/2014/main" id="{5BCB1F51-AFCF-4C6B-4501-7D13E8FA1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47" y="87965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1FD11954-C3EC-00A0-7297-FF317B69C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0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E7B639-FACB-6B0E-80A4-C3AEC90D1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768" y="1789526"/>
            <a:ext cx="8129863" cy="4605151"/>
          </a:xfrm>
        </p:spPr>
      </p:pic>
    </p:spTree>
    <p:extLst>
      <p:ext uri="{BB962C8B-B14F-4D97-AF65-F5344CB8AC3E}">
        <p14:creationId xmlns:p14="http://schemas.microsoft.com/office/powerpoint/2010/main" val="1187605591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483D4-80CF-6D9B-9211-CD0D2E91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IN" sz="3200" dirty="0"/>
              <a:t> </a:t>
            </a:r>
          </a:p>
        </p:txBody>
      </p:sp>
      <p:pic>
        <p:nvPicPr>
          <p:cNvPr id="4" name="Picture 3" descr="SIMATS CGPA Calculator">
            <a:extLst>
              <a:ext uri="{FF2B5EF4-FFF2-40B4-BE49-F238E27FC236}">
                <a16:creationId xmlns:a16="http://schemas.microsoft.com/office/drawing/2014/main" id="{4AFC7F30-651C-809F-B00C-57EAFD15D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31" y="90416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0418D069-8660-98B7-5C06-560C893B3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2451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D61B9C26-AA3A-A7D9-A388-9E3A6A4AF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42" y="1825625"/>
            <a:ext cx="9945915" cy="4351338"/>
          </a:xfrm>
        </p:spPr>
      </p:pic>
    </p:spTree>
    <p:extLst>
      <p:ext uri="{BB962C8B-B14F-4D97-AF65-F5344CB8AC3E}">
        <p14:creationId xmlns:p14="http://schemas.microsoft.com/office/powerpoint/2010/main" val="92113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D8F6-EEED-DFCF-15FB-1703C1ED0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28" y="522514"/>
            <a:ext cx="9318171" cy="8382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6D61CE-1E4D-2904-DEFD-F1DA6230878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 rot="10800000" flipV="1">
            <a:off x="860122" y="1827535"/>
            <a:ext cx="10157279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Frameworks Used: Cisco Packet Tracer and Wireshark are utilized to simulate, analyze, and visualize real-time network traffic and congestion scenarios.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Development Approach: A modular and simulation-based approach is followed to design, test, and optimize traffic flow across multiple network topologies.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Collection: Network performance metrics such as latency, packet loss, and throughput are gathered during simulations for congestion analysis and model evaluation.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 descr="SIMATS CGPA Calculator">
            <a:extLst>
              <a:ext uri="{FF2B5EF4-FFF2-40B4-BE49-F238E27FC236}">
                <a16:creationId xmlns:a16="http://schemas.microsoft.com/office/drawing/2014/main" id="{FD9C89C8-24D1-B6AE-A5F6-D2985D7D5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09" y="91508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Saveetha Institute of Medical and Technical Sciences ...">
            <a:extLst>
              <a:ext uri="{FF2B5EF4-FFF2-40B4-BE49-F238E27FC236}">
                <a16:creationId xmlns:a16="http://schemas.microsoft.com/office/drawing/2014/main" id="{FE782AC1-6C9D-CE31-19B9-579B8C4B8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716" y="3543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78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D4D42-03FA-DC37-813F-72E5216F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2" y="681038"/>
            <a:ext cx="8937171" cy="100965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Module 1: Network Traffic Analysis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AB700-AB0B-BCFB-D484-E26097879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90057"/>
            <a:ext cx="9786257" cy="408690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studying data flow patterns and identifying bottlenecks within a network.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tools and models to measure bandwidth usage, packet loss, and latency.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traffic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optimizing network performance and predicting congestion.</a:t>
            </a:r>
          </a:p>
        </p:txBody>
      </p:sp>
      <p:pic>
        <p:nvPicPr>
          <p:cNvPr id="6" name="Picture 6" descr="SIMATS CGPA Calculator">
            <a:extLst>
              <a:ext uri="{FF2B5EF4-FFF2-40B4-BE49-F238E27FC236}">
                <a16:creationId xmlns:a16="http://schemas.microsoft.com/office/drawing/2014/main" id="{0E004895-CDA2-E80E-5ADF-43F7597FB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72" y="87965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Institute of Medical and Technical Sciences ...">
            <a:extLst>
              <a:ext uri="{FF2B5EF4-FFF2-40B4-BE49-F238E27FC236}">
                <a16:creationId xmlns:a16="http://schemas.microsoft.com/office/drawing/2014/main" id="{CEE750E5-86FA-0F14-7C6E-6AFC1F0DF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0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605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6AA57-DE16-4933-180D-914578F13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132114"/>
            <a:ext cx="8469086" cy="892630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Congestion Management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204A6-529C-E487-4C58-A40C7F305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056" y="2906485"/>
            <a:ext cx="10406743" cy="327047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implementing algorithms and protocols to control and reduce network congestion.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include traffic shaping, load balancing, and priority-based queuing.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data transmission and improved Quality of Service (QoS).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SIMATS CGPA Calculator">
            <a:extLst>
              <a:ext uri="{FF2B5EF4-FFF2-40B4-BE49-F238E27FC236}">
                <a16:creationId xmlns:a16="http://schemas.microsoft.com/office/drawing/2014/main" id="{28DF1EC4-C1B3-083A-A586-D77E34480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45" y="153279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4B997CD2-8092-CFD4-8107-570159086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228" y="0"/>
            <a:ext cx="3656772" cy="142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08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EE447-25BE-2A0F-7854-CED6315EE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486" y="1284513"/>
            <a:ext cx="9971313" cy="64225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Network Congestion Management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1C200-862B-622F-9984-C34210BC9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370" y="2383971"/>
            <a:ext cx="10341429" cy="37929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network performance under varying traffic loads to assess congestion control methods.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simulation and real-time testing tools to evaluate system efficiency.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the effectiveness of congestion management solutions in real-world conditions.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SIMATS CGPA Calculator">
            <a:extLst>
              <a:ext uri="{FF2B5EF4-FFF2-40B4-BE49-F238E27FC236}">
                <a16:creationId xmlns:a16="http://schemas.microsoft.com/office/drawing/2014/main" id="{BC3F5BB7-AEAF-DCCA-8D54-175984FE3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65" y="180295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A5DFF736-7835-0DC3-C953-19B3AB7B9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228" y="27016"/>
            <a:ext cx="3656772" cy="142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218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BE4B-217C-4DA3-D615-2893A2E9A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874" y="298938"/>
            <a:ext cx="9350829" cy="125329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DISSCUSSION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5BAA7-D14B-E9A4-6B8F-592CA6F5F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7171" y="942609"/>
            <a:ext cx="9350829" cy="5036159"/>
          </a:xfrm>
        </p:spPr>
        <p:txBody>
          <a:bodyPr>
            <a:normAutofit/>
          </a:bodyPr>
          <a:lstStyle/>
          <a:p>
            <a:pPr algn="just"/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7CBE5B6-D0EF-4908-31C0-6F98B408671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6686" y="2197997"/>
            <a:ext cx="7990114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of the Project: The proposed system effectively improves network performance by reducing congestion and optimizing bandwidth utilization.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 with Existing Solutions: Compared to traditional static models, the advanced system offers faster data flow analysis and more accurate congestion prediction.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966F11-EE52-CB8A-8931-79A75CE04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86" y="2405744"/>
            <a:ext cx="2696355" cy="2276270"/>
          </a:xfrm>
          <a:prstGeom prst="rect">
            <a:avLst/>
          </a:prstGeom>
        </p:spPr>
      </p:pic>
      <p:pic>
        <p:nvPicPr>
          <p:cNvPr id="7" name="Picture 6" descr="SIMATS CGPA Calculator">
            <a:extLst>
              <a:ext uri="{FF2B5EF4-FFF2-40B4-BE49-F238E27FC236}">
                <a16:creationId xmlns:a16="http://schemas.microsoft.com/office/drawing/2014/main" id="{471D123B-A858-9AD4-2F52-CDFFFEB42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86" y="283029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Institute of Medical and Technical Sciences ...">
            <a:extLst>
              <a:ext uri="{FF2B5EF4-FFF2-40B4-BE49-F238E27FC236}">
                <a16:creationId xmlns:a16="http://schemas.microsoft.com/office/drawing/2014/main" id="{DEFECA7E-D676-1C8B-4B2A-C7B2BD691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195064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89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B2A3-44CE-E610-CB80-F5E96EDC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83770"/>
            <a:ext cx="11353799" cy="9069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1C3BF-615E-8696-1F95-38D7390C7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086" y="2198914"/>
            <a:ext cx="8479971" cy="397804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faced during development: Complex real-time data analysis and scalability issues make accurate traffic prediction difficult.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constraints: High computational cost and limited interoperability with legacy network systems.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+mj-lt"/>
            </a:endParaRPr>
          </a:p>
        </p:txBody>
      </p:sp>
      <p:pic>
        <p:nvPicPr>
          <p:cNvPr id="4" name="Picture 6" descr="SIMATS CGPA Calculator">
            <a:extLst>
              <a:ext uri="{FF2B5EF4-FFF2-40B4-BE49-F238E27FC236}">
                <a16:creationId xmlns:a16="http://schemas.microsoft.com/office/drawing/2014/main" id="{368833C4-A1CF-A4E1-ECB9-F6F85ED8C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7" y="87965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Saveetha Institute of Medical and Technical Sciences ...">
            <a:extLst>
              <a:ext uri="{FF2B5EF4-FFF2-40B4-BE49-F238E27FC236}">
                <a16:creationId xmlns:a16="http://schemas.microsoft.com/office/drawing/2014/main" id="{13B58F0F-5B47-4A49-08C4-9E66468AF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0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726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C34E9-6523-7F83-8947-AF75F550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4" name="Picture 6" descr="SIMATS CGPA Calculator">
            <a:extLst>
              <a:ext uri="{FF2B5EF4-FFF2-40B4-BE49-F238E27FC236}">
                <a16:creationId xmlns:a16="http://schemas.microsoft.com/office/drawing/2014/main" id="{E4DB80B7-7E5B-02B1-1369-EF139FAC0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7965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2C0FA97-57AD-2032-475C-D0FA9D953F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7686" y="2060217"/>
            <a:ext cx="10276113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Enhancements or Improvements: Incorporate AI-driven predictive analytics to optimize real-time traffic control and reduce congestion automatically.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Software-Defined Networking (SDN) for dynamic bandwidth allocation and policy-based traffic management.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to support IoT and 5G networks for high-speed, low-latency communication environments</a:t>
            </a:r>
          </a:p>
        </p:txBody>
      </p:sp>
      <p:pic>
        <p:nvPicPr>
          <p:cNvPr id="6" name="Picture 5" descr="Saveetha Institute of Medical and Technical Sciences ...">
            <a:extLst>
              <a:ext uri="{FF2B5EF4-FFF2-40B4-BE49-F238E27FC236}">
                <a16:creationId xmlns:a16="http://schemas.microsoft.com/office/drawing/2014/main" id="{512B6B32-2E71-5FA7-7445-A279256D0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0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85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58F5-67AE-A298-0AFE-5BD011F88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6901"/>
            <a:ext cx="9144000" cy="70643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702249-4405-BA72-765C-58CE02D435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08314" y="2204929"/>
            <a:ext cx="8839200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advanced insights into traffic modeling, congestion management, and modern networking optimization, ensuring efficient data flow and reduced latency.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 Accurate traffic analysis, proactive congestion control, and intelligent QoS mechanisms enhance overall network performance and reliability.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6" descr="SIMATS CGPA Calculator">
            <a:extLst>
              <a:ext uri="{FF2B5EF4-FFF2-40B4-BE49-F238E27FC236}">
                <a16:creationId xmlns:a16="http://schemas.microsoft.com/office/drawing/2014/main" id="{D45C75E6-E55D-9C1A-A722-8FA0395A8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03" y="87965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2B5C59DA-9CB1-789E-6689-F2B8793E0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0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0647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25B1-138F-954B-08F7-2852594D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-163285"/>
            <a:ext cx="10602686" cy="185397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29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</a:t>
            </a:r>
            <a:br>
              <a:rPr lang="en-IN" sz="29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29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0C6BD-6C10-080C-2508-88FE757B4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357170"/>
            <a:ext cx="11462657" cy="4819793"/>
          </a:xfrm>
        </p:spPr>
        <p:txBody>
          <a:bodyPr>
            <a:no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Mystakidis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Koukaras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Tjortjis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2025. Advances in traffic congestion prediction: an overview of emerging techniques and methods.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p.25.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Khan, A.F. and Ivan, P., 2023. Integrating machine learning and deep learning in smart cities for enhanced traffic congestion management: An empirical review.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Urban Dev. Manag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(4), pp.211-221.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Usama, M., Ullah, U., Muhammad, Z., Bux, M., Ullah, I., Rouf, M. and Islam, T., 2024. Data traffic management in AI-IoT network to reduce congestion. In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for intelligent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145-189). CRC Press.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Taher, Y.H., Mandeep, J.S.,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Marhoon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H.A., Al-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Jamimi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H.A., Luqman, H.,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Azzedin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 Abdullah, M., Al-Ahmadi, H.M. and Yaseen, Z.M., 2025. Traffic Congestion Estimation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Archives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Computational Methods in Engineering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pp.1-62.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Ravish, R. and Swamy, S.R., 2021. Intelligent traffic management: A review of challenges, solutions, and future perspectives.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and Telecommunication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pp.163-182.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aveetha Institute of Medical and Technical Sciences ...">
            <a:extLst>
              <a:ext uri="{FF2B5EF4-FFF2-40B4-BE49-F238E27FC236}">
                <a16:creationId xmlns:a16="http://schemas.microsoft.com/office/drawing/2014/main" id="{A74B2E48-C431-0B83-A866-14D8E180C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0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IMATS CGPA Calculator">
            <a:extLst>
              <a:ext uri="{FF2B5EF4-FFF2-40B4-BE49-F238E27FC236}">
                <a16:creationId xmlns:a16="http://schemas.microsoft.com/office/drawing/2014/main" id="{CB492663-4E62-7987-6101-AF757FF65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14" y="87965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328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5C41-D717-9548-5879-6CE453897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6" y="283030"/>
            <a:ext cx="9720943" cy="161448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REFERENCES(CONT..,)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10EFB-1509-CC52-BB83-6EFC7A72F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599"/>
            <a:ext cx="11865429" cy="4811487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Yue, W., Li, C., Mao, G., Cheng, N. and Zhou, D., 2021. Evolution of road traffic congestion control: A survey      from perspective of sensing, communication, and computation. </a:t>
            </a:r>
            <a:r>
              <a:rPr lang="en-US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 Communications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(12), pp.151-177.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Almukhalfi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H., Noor, A. and Noor, T.H., 2024. Traffic management approaches using machine learning and deep learning techniques: A survey. </a:t>
            </a:r>
            <a:r>
              <a:rPr lang="en-US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133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p.108147.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Taher, Y.H., Mandeep, J.S.,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Marhoon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H.A., Al-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Jamimi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H.A., Luqman, H.,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Azzedin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 Abdullah, M., Al-Ahmadi, H.M. and Yaseen, Z.M., 2025. Traffic Congestion Estimation and Control: A Comprehensive Review of the Applied Computational Intelligence Models. </a:t>
            </a:r>
            <a:r>
              <a:rPr lang="en-IN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Archives of Computational Methods in Engineering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pp.1-62.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Matrood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M.Q. and Ali, M.H., 2025. Enhancing Network Congestion Control: A Comparative Study of Traditional and AI-Enhanced Active Queue Management Techniques. </a:t>
            </a:r>
            <a:r>
              <a:rPr lang="en-US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Cybersecurity &amp; Information Management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(1).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Fadila, J.N., Wahab, N.H.A., Alshammari, A.,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Aqarni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Al-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Dhaqm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and Aziz, N., 2024. Comprehensive Review of Smart Urban Traffic Management in the Context of the Fourth Industrial Revolution. </a:t>
            </a:r>
            <a:r>
              <a:rPr lang="en-IN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4" name="Picture 6" descr="SIMATS CGPA Calculator">
            <a:extLst>
              <a:ext uri="{FF2B5EF4-FFF2-40B4-BE49-F238E27FC236}">
                <a16:creationId xmlns:a16="http://schemas.microsoft.com/office/drawing/2014/main" id="{C1110DE3-E6D9-6E29-8034-3FD80746E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55" y="185937"/>
            <a:ext cx="1168021" cy="12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C37838D0-9A72-F91B-D06A-40F8B15F0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130" y="97972"/>
            <a:ext cx="3488870" cy="135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453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1820</TotalTime>
  <Words>1378</Words>
  <Application>Microsoft Office PowerPoint</Application>
  <PresentationFormat>Widescreen</PresentationFormat>
  <Paragraphs>111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 ADVANCED TRAFFIC MODELING AND CONGESTION MANAGEMENT SOLUTION FOR MODERN NETWORKING PLATFORMS  CSA-0732 COMPUTER NETWORKS FOR DATA CENTERS </vt:lpstr>
      <vt:lpstr>LIST OF TABLES</vt:lpstr>
      <vt:lpstr>ABSTACT</vt:lpstr>
      <vt:lpstr>INTRODUCTION</vt:lpstr>
      <vt:lpstr>OBJECTIVES</vt:lpstr>
      <vt:lpstr>PROMBLEM STATEMENT</vt:lpstr>
      <vt:lpstr>                              Literature review</vt:lpstr>
      <vt:lpstr>                  SYSTEM DESIGN/ARCHITECTURE</vt:lpstr>
      <vt:lpstr>                       IMPLEMENTATION </vt:lpstr>
      <vt:lpstr>METHODOLOGY</vt:lpstr>
      <vt:lpstr>               Module 1: Network Traffic Analysis</vt:lpstr>
      <vt:lpstr>Module 2: Congestion Management Strategies</vt:lpstr>
      <vt:lpstr>Module 3: Network Congestion Management Testing</vt:lpstr>
      <vt:lpstr>RESULT &amp; DISSCUSSION</vt:lpstr>
      <vt:lpstr>CHALLENGES &amp; LIMITATIONS </vt:lpstr>
      <vt:lpstr>FUTURE SCOPE</vt:lpstr>
      <vt:lpstr>CONCLUSION</vt:lpstr>
      <vt:lpstr>                                                                                             REFERENCES </vt:lpstr>
      <vt:lpstr>                                     REFERENCES(CONT..,)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Design and Implementation Of an Arduino –Based           Automatic Street Lighting System</dc:title>
  <dc:creator>madhavan4244@gmail.com</dc:creator>
  <cp:lastModifiedBy>devadharshini dharshini</cp:lastModifiedBy>
  <cp:revision>13</cp:revision>
  <dcterms:created xsi:type="dcterms:W3CDTF">2025-10-05T16:06:11Z</dcterms:created>
  <dcterms:modified xsi:type="dcterms:W3CDTF">2025-11-07T14:01:51Z</dcterms:modified>
</cp:coreProperties>
</file>