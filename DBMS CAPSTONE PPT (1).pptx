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4F9516-5E75-43DF-928C-B8F516FDD1A9}" v="27" dt="2026-01-05T06:57:52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E85D-3C0C-D307-E95F-F6BF80CE6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FDC12-90FC-775B-D34C-CD0D8EC63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C6B32-CF7E-E9AF-12E0-406FDB9A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AD270-27A6-464E-8923-0BA48C4F2D2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F068F-AEE0-3A03-8AE3-842346044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45D92-D92F-6907-EAA5-2507923C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55BC-30C3-48BC-8291-2F97A7F4D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887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9A76-F5A9-A10F-7010-808993022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7C703-F940-4204-238F-414DA4607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0F83F-95D7-BB5A-DE2D-477D63281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AD270-27A6-464E-8923-0BA48C4F2D2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7E4A1-BC35-7C7C-05E9-EF17CD6B3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2858-755C-F3B7-9D0D-26B12571C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55BC-30C3-48BC-8291-2F97A7F4D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95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B646F-142E-7AAC-5494-63C3FADD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9266E-7813-7943-67DE-DCCA66834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AC980-EAA3-F9BF-D646-2B2C1C276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AD270-27A6-464E-8923-0BA48C4F2D2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29917-721D-AE63-3BAD-90CC6124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327B4-0896-4D8B-01C9-115D8B9C4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55BC-30C3-48BC-8291-2F97A7F4D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955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14B3-802D-A901-3766-F7FBCBC7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0857A-9411-AD84-BECA-29CF99209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6A82F-783B-FFF9-03CB-2A153460F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B265F-3552-78D4-6F98-741D6894A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AD270-27A6-464E-8923-0BA48C4F2D2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75483-946B-7D7E-3468-723B84028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64F8E-37AD-8233-AD4B-962A489E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55BC-30C3-48BC-8291-2F97A7F4D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63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EF24A-177C-238D-EB0A-0EFE6BB31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EE499-61F4-9839-2164-9BE687364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60803-D07E-46E7-B0A3-252AECED2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73731C-BEE7-8D4D-7348-29E26FFA1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A305C6-6A83-4E08-E7C7-45BF455C65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505CE-14D7-433A-9AD2-F6121D81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AD270-27A6-464E-8923-0BA48C4F2D2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108998-5194-C3B6-66E1-CAE7D567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F0B4A1-BF87-7907-A27A-246F95FB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55BC-30C3-48BC-8291-2F97A7F4D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06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3EDC9-CCF4-9D75-A08C-81C3CC76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5BC904-CED3-BEF0-956D-19F921634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AD270-27A6-464E-8923-0BA48C4F2D2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E4DC4-0023-DC42-5A7F-9EEAE04F7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C735-BF39-6057-0B34-A9B57C78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55BC-30C3-48BC-8291-2F97A7F4D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863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13A326-3495-BD37-BA08-5DE6C9AAD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AD270-27A6-464E-8923-0BA48C4F2D2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33A0BC-980B-8800-CC35-B9AD5CA2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91228-94D1-A3DD-8E67-7FD5F8BA9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55BC-30C3-48BC-8291-2F97A7F4D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596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2D075-19D3-FA1F-16B8-949867C08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93BC8-CA13-6BF1-45D6-18AC3BBB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39EDB-1543-3BFB-6C2D-F5FB18F2B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04BDD-B2CC-1773-EA54-779793A5D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AD270-27A6-464E-8923-0BA48C4F2D2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ADB78-0E7F-68A4-01D5-17BB7278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19B09-D127-AB0A-58F4-987766A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55BC-30C3-48BC-8291-2F97A7F4D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180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9E62-840C-F2FD-F5F1-C842D23C0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17E2D9-F5F2-4EFF-C161-FA61F88829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BBCD9-D6C4-1ABC-11C4-49B75A025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63E04-C7FB-087A-E5EA-3BACC150B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AD270-27A6-464E-8923-0BA48C4F2D2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B8698-13D8-DAC6-F734-0B927052E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30262-184F-22F7-FBFA-225529AFE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55BC-30C3-48BC-8291-2F97A7F4D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84B3-1FDB-C45F-0860-5BCC93719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DF273F-DAC0-2187-219F-77B335F47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02634-A828-E934-7E55-4107BF317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AD270-27A6-464E-8923-0BA48C4F2D2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E7E7C-847B-0138-C237-594C3821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1BD24-24ED-CCEF-621A-1838EA873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55BC-30C3-48BC-8291-2F97A7F4D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16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ACE3D-69C1-EC87-EBE4-2BEABE75B9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2395F-3F8B-69FC-0603-6643EB673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5D650-1610-4552-6750-361EA1869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AD270-27A6-464E-8923-0BA48C4F2D2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19B5E-282F-F3CD-7A94-5E24EEAE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43211-5C63-3415-81A5-51B93EA99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55BC-30C3-48BC-8291-2F97A7F4D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910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0F278A-1D37-2747-4567-A7C96EB9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26A63-D3C2-B350-6801-E20329984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9B20F-3C24-B96F-2860-8C3FF029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AD270-27A6-464E-8923-0BA48C4F2D20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E8F1B-8CB7-FAB8-5E31-A6B9D91E8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43C70-36C9-92B1-2352-9C3370F83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5555BC-30C3-48BC-8291-2F97A7F4D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1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B16C-4792-213D-5A2D-63B100960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8167"/>
            <a:ext cx="9144000" cy="1322181"/>
          </a:xfrm>
        </p:spPr>
        <p:txBody>
          <a:bodyPr>
            <a:normAutofit fontScale="90000"/>
          </a:bodyPr>
          <a:lstStyle/>
          <a:p>
            <a:r>
              <a:rPr lang="en-IN" dirty="0"/>
              <a:t>Crime Record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35AC3-B8E4-46FF-F757-CC3B8AF13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18583"/>
            <a:ext cx="9144000" cy="1921795"/>
          </a:xfrm>
        </p:spPr>
        <p:txBody>
          <a:bodyPr/>
          <a:lstStyle/>
          <a:p>
            <a:pPr algn="l"/>
            <a:r>
              <a:rPr lang="en-US" dirty="0"/>
              <a:t>Presented by:                                                                   Guided by:</a:t>
            </a:r>
          </a:p>
          <a:p>
            <a:pPr algn="l"/>
            <a:r>
              <a:rPr lang="en-US" dirty="0"/>
              <a:t>J. Lakshmi devi (192524300)                                  Dr. M. Shakila</a:t>
            </a:r>
          </a:p>
          <a:p>
            <a:pPr algn="l"/>
            <a:r>
              <a:rPr lang="en-US" dirty="0"/>
              <a:t>S. Sadhana(192524298)                                        Dr. Rashmita </a:t>
            </a:r>
            <a:r>
              <a:rPr lang="en-US" dirty="0" err="1"/>
              <a:t>Khilar</a:t>
            </a:r>
            <a:endParaRPr lang="en-US" dirty="0"/>
          </a:p>
          <a:p>
            <a:pPr algn="l"/>
            <a:r>
              <a:rPr lang="en-IN" dirty="0"/>
              <a:t>Devadharshini E (192524483 )</a:t>
            </a:r>
          </a:p>
        </p:txBody>
      </p:sp>
      <p:pic>
        <p:nvPicPr>
          <p:cNvPr id="4" name="Picture 5" descr="SIMATS ENGINEERING —Profile">
            <a:extLst>
              <a:ext uri="{FF2B5EF4-FFF2-40B4-BE49-F238E27FC236}">
                <a16:creationId xmlns:a16="http://schemas.microsoft.com/office/drawing/2014/main" id="{0DAB4845-EE2B-1F1E-DB70-DD0A4BF22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155" y="25031"/>
            <a:ext cx="12015020" cy="1180771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01203E-6A52-6D30-BFF0-00BEA0C09A3A}"/>
              </a:ext>
            </a:extLst>
          </p:cNvPr>
          <p:cNvSpPr txBox="1"/>
          <p:nvPr/>
        </p:nvSpPr>
        <p:spPr>
          <a:xfrm>
            <a:off x="1317523" y="3519948"/>
            <a:ext cx="8829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CSA0515- DATABASE MANAGEMENT SYSTEM FOR ADVANCED ANALYTICS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58461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E35E-CD75-DB31-80A4-BD580CE9E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298"/>
            <a:ext cx="10515600" cy="1435508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4" name="Picture 5" descr="SIMATS ENGINEERING —Profile">
            <a:extLst>
              <a:ext uri="{FF2B5EF4-FFF2-40B4-BE49-F238E27FC236}">
                <a16:creationId xmlns:a16="http://schemas.microsoft.com/office/drawing/2014/main" id="{980171F3-455C-5E15-8FC8-7FA5C26FAC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-12796" r="89595" b="-1"/>
          <a:stretch>
            <a:fillRect/>
          </a:stretch>
        </p:blipFill>
        <p:spPr bwMode="auto">
          <a:xfrm>
            <a:off x="68915" y="-11680"/>
            <a:ext cx="844859" cy="1107995"/>
          </a:xfrm>
          <a:prstGeom prst="rect">
            <a:avLst/>
          </a:prstGeom>
          <a:noFill/>
        </p:spPr>
      </p:pic>
      <p:pic>
        <p:nvPicPr>
          <p:cNvPr id="5" name="Picture 6" descr="SIMATS ENGINEERING —Profile">
            <a:extLst>
              <a:ext uri="{FF2B5EF4-FFF2-40B4-BE49-F238E27FC236}">
                <a16:creationId xmlns:a16="http://schemas.microsoft.com/office/drawing/2014/main" id="{B2EA3D88-2F66-0087-14BF-F5931F5AA5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51846" r="34307" b="275"/>
          <a:stretch>
            <a:fillRect/>
          </a:stretch>
        </p:blipFill>
        <p:spPr bwMode="auto">
          <a:xfrm>
            <a:off x="11125200" y="34442"/>
            <a:ext cx="1066800" cy="979590"/>
          </a:xfrm>
          <a:prstGeom prst="rect">
            <a:avLst/>
          </a:prstGeom>
          <a:noFill/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EB46143-5FD2-6553-7729-359807073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3564" y="2413495"/>
            <a:ext cx="1070487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Crime Record Management System is a computerized system used to manage crime-related data.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stores details of crimes, criminals, victims, and investigations in a central database.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manual paperwork and human errors.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quick searching and retrieval of records.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data security and confidentiality.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police in effective crime analysis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4074423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18C7-B0A9-3458-34F5-25B09A66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65125"/>
            <a:ext cx="8160774" cy="1325563"/>
          </a:xfrm>
        </p:spPr>
        <p:txBody>
          <a:bodyPr/>
          <a:lstStyle/>
          <a:p>
            <a:pPr algn="ctr"/>
            <a:r>
              <a:rPr lang="en-US" dirty="0"/>
              <a:t>PROBLEM STATEMENT</a:t>
            </a:r>
            <a:endParaRPr lang="en-IN" dirty="0"/>
          </a:p>
        </p:txBody>
      </p:sp>
      <p:pic>
        <p:nvPicPr>
          <p:cNvPr id="4" name="Picture 5" descr="SIMATS ENGINEERING —Profile">
            <a:extLst>
              <a:ext uri="{FF2B5EF4-FFF2-40B4-BE49-F238E27FC236}">
                <a16:creationId xmlns:a16="http://schemas.microsoft.com/office/drawing/2014/main" id="{5E19582D-557B-07B5-DE38-28AA0532B8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-12796" r="89595" b="-1"/>
          <a:stretch>
            <a:fillRect/>
          </a:stretch>
        </p:blipFill>
        <p:spPr bwMode="auto">
          <a:xfrm>
            <a:off x="68915" y="-11680"/>
            <a:ext cx="844859" cy="1107995"/>
          </a:xfrm>
          <a:prstGeom prst="rect">
            <a:avLst/>
          </a:prstGeom>
          <a:noFill/>
        </p:spPr>
      </p:pic>
      <p:pic>
        <p:nvPicPr>
          <p:cNvPr id="5" name="Picture 6" descr="SIMATS ENGINEERING —Profile">
            <a:extLst>
              <a:ext uri="{FF2B5EF4-FFF2-40B4-BE49-F238E27FC236}">
                <a16:creationId xmlns:a16="http://schemas.microsoft.com/office/drawing/2014/main" id="{2E19D4C1-6B35-B0CC-7783-018C91D776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51846" r="34307" b="275"/>
          <a:stretch>
            <a:fillRect/>
          </a:stretch>
        </p:blipFill>
        <p:spPr bwMode="auto">
          <a:xfrm>
            <a:off x="11125200" y="34442"/>
            <a:ext cx="1066800" cy="979590"/>
          </a:xfrm>
          <a:prstGeom prst="rect">
            <a:avLst/>
          </a:prstGeom>
          <a:noFill/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DCE73DB-7241-DB4A-AFF7-DCB3AE936B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3802"/>
            <a:ext cx="1111721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crime record maintenance is mostly manual and paper-based.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systems are time-consuming and prone to errors and data loss.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Searching and retrieving old crime records is difficult and slow.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centralized data leads to poor coordination between departments.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security and confidentiality are not well maintained.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Inefficient record management affects timely investigation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422769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98BF7-E6BA-0235-09F5-2E913E9F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212" y="365125"/>
            <a:ext cx="7049729" cy="1325563"/>
          </a:xfrm>
        </p:spPr>
        <p:txBody>
          <a:bodyPr/>
          <a:lstStyle/>
          <a:p>
            <a:pPr algn="ctr"/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338C5-6DA7-3D02-200B-07161D5AE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develop a centralized system for managing crime records.</a:t>
            </a:r>
          </a:p>
          <a:p>
            <a:r>
              <a:rPr lang="en-US" dirty="0"/>
              <a:t>To reduce manual work and improve efficiency.</a:t>
            </a:r>
          </a:p>
          <a:p>
            <a:r>
              <a:rPr lang="en-US" dirty="0"/>
              <a:t>To provide quick and easy access to crime-related information.</a:t>
            </a:r>
          </a:p>
          <a:p>
            <a:r>
              <a:rPr lang="en-US" dirty="0"/>
              <a:t>To ensure secure storage of sensitive data.</a:t>
            </a:r>
          </a:p>
          <a:p>
            <a:r>
              <a:rPr lang="en-US" dirty="0"/>
              <a:t>To support effective crime analysis and investigation.</a:t>
            </a:r>
          </a:p>
          <a:p>
            <a:r>
              <a:rPr lang="en-US" dirty="0"/>
              <a:t>To improve coordination among law enforcement departments.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5" descr="SIMATS ENGINEERING —Profile">
            <a:extLst>
              <a:ext uri="{FF2B5EF4-FFF2-40B4-BE49-F238E27FC236}">
                <a16:creationId xmlns:a16="http://schemas.microsoft.com/office/drawing/2014/main" id="{562F1E36-1CBF-0195-4063-CE63E19AD9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-12796" r="89595" b="-1"/>
          <a:stretch>
            <a:fillRect/>
          </a:stretch>
        </p:blipFill>
        <p:spPr bwMode="auto">
          <a:xfrm>
            <a:off x="68915" y="-11680"/>
            <a:ext cx="844859" cy="1107995"/>
          </a:xfrm>
          <a:prstGeom prst="rect">
            <a:avLst/>
          </a:prstGeom>
          <a:noFill/>
        </p:spPr>
      </p:pic>
      <p:pic>
        <p:nvPicPr>
          <p:cNvPr id="5" name="Picture 6" descr="SIMATS ENGINEERING —Profile">
            <a:extLst>
              <a:ext uri="{FF2B5EF4-FFF2-40B4-BE49-F238E27FC236}">
                <a16:creationId xmlns:a16="http://schemas.microsoft.com/office/drawing/2014/main" id="{A342D5E4-394A-910B-4361-2A3584123B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51846" r="34307" b="275"/>
          <a:stretch>
            <a:fillRect/>
          </a:stretch>
        </p:blipFill>
        <p:spPr bwMode="auto">
          <a:xfrm>
            <a:off x="11125200" y="34442"/>
            <a:ext cx="1066800" cy="9795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9369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AFF8D-2F73-A085-0060-27DE537E3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6554" y="365125"/>
            <a:ext cx="7148051" cy="1325563"/>
          </a:xfrm>
        </p:spPr>
        <p:txBody>
          <a:bodyPr/>
          <a:lstStyle/>
          <a:p>
            <a:pPr algn="ctr"/>
            <a:r>
              <a:rPr lang="en-US" dirty="0"/>
              <a:t>PROPOSED SYSTEM</a:t>
            </a:r>
            <a:endParaRPr lang="en-IN" dirty="0"/>
          </a:p>
        </p:txBody>
      </p:sp>
      <p:pic>
        <p:nvPicPr>
          <p:cNvPr id="4" name="Picture 5" descr="SIMATS ENGINEERING —Profile">
            <a:extLst>
              <a:ext uri="{FF2B5EF4-FFF2-40B4-BE49-F238E27FC236}">
                <a16:creationId xmlns:a16="http://schemas.microsoft.com/office/drawing/2014/main" id="{A83BC088-5AD3-B134-53D6-CE65666D0F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-12796" r="89595" b="-1"/>
          <a:stretch>
            <a:fillRect/>
          </a:stretch>
        </p:blipFill>
        <p:spPr bwMode="auto">
          <a:xfrm>
            <a:off x="68915" y="-11680"/>
            <a:ext cx="844859" cy="1107995"/>
          </a:xfrm>
          <a:prstGeom prst="rect">
            <a:avLst/>
          </a:prstGeom>
          <a:noFill/>
        </p:spPr>
      </p:pic>
      <p:pic>
        <p:nvPicPr>
          <p:cNvPr id="5" name="Picture 6" descr="SIMATS ENGINEERING —Profile">
            <a:extLst>
              <a:ext uri="{FF2B5EF4-FFF2-40B4-BE49-F238E27FC236}">
                <a16:creationId xmlns:a16="http://schemas.microsoft.com/office/drawing/2014/main" id="{39499EE4-EFE9-53C2-C77D-D123187CC7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51846" r="34307" b="275"/>
          <a:stretch>
            <a:fillRect/>
          </a:stretch>
        </p:blipFill>
        <p:spPr bwMode="auto">
          <a:xfrm>
            <a:off x="11125200" y="34442"/>
            <a:ext cx="1066800" cy="979590"/>
          </a:xfrm>
          <a:prstGeom prst="rect">
            <a:avLst/>
          </a:prstGeom>
          <a:noFill/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A3E0699-A953-5F17-00EF-FAC2EAA689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3802"/>
            <a:ext cx="1016816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web-based computerized system to manage crime records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database for storing crime, criminal, victim, and case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Authorized users can add, update, view, and delete records securely.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search and retrieval of crime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to ensure data security and privacy.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reports to support investigation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463087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67E95-819F-1A20-A151-9079EB020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ER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641E48-1F16-53F3-C259-10473D9C81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2156" y="1415845"/>
            <a:ext cx="8996516" cy="4761118"/>
          </a:xfrm>
          <a:prstGeom prst="rect">
            <a:avLst/>
          </a:prstGeom>
        </p:spPr>
      </p:pic>
      <p:pic>
        <p:nvPicPr>
          <p:cNvPr id="6" name="Picture 5" descr="SIMATS ENGINEERING —Profile">
            <a:extLst>
              <a:ext uri="{FF2B5EF4-FFF2-40B4-BE49-F238E27FC236}">
                <a16:creationId xmlns:a16="http://schemas.microsoft.com/office/drawing/2014/main" id="{1DE01B55-06BE-757F-E715-5046B6B420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t="-12796" r="89595" b="-1"/>
          <a:stretch>
            <a:fillRect/>
          </a:stretch>
        </p:blipFill>
        <p:spPr bwMode="auto">
          <a:xfrm>
            <a:off x="78747" y="-64467"/>
            <a:ext cx="844859" cy="1107995"/>
          </a:xfrm>
          <a:prstGeom prst="rect">
            <a:avLst/>
          </a:prstGeom>
          <a:noFill/>
        </p:spPr>
      </p:pic>
      <p:pic>
        <p:nvPicPr>
          <p:cNvPr id="7" name="Picture 6" descr="SIMATS ENGINEERING —Profile">
            <a:extLst>
              <a:ext uri="{FF2B5EF4-FFF2-40B4-BE49-F238E27FC236}">
                <a16:creationId xmlns:a16="http://schemas.microsoft.com/office/drawing/2014/main" id="{41D31E94-E2BA-C434-F18E-85FFED4E63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51846" r="34307" b="275"/>
          <a:stretch>
            <a:fillRect/>
          </a:stretch>
        </p:blipFill>
        <p:spPr bwMode="auto">
          <a:xfrm>
            <a:off x="11125200" y="63938"/>
            <a:ext cx="1066800" cy="9795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58759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CA5B-D051-6012-887D-5CE39121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Module 1: Crime &amp; Case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46853-747D-093D-EF21-9AC89248F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US" dirty="0"/>
              <a:t>Register and manage crime details systematically.</a:t>
            </a:r>
          </a:p>
          <a:p>
            <a:r>
              <a:rPr lang="en-US" dirty="0"/>
              <a:t>Record crime type, date, time, location, and description.</a:t>
            </a:r>
          </a:p>
          <a:p>
            <a:r>
              <a:rPr lang="en-US" dirty="0"/>
              <a:t>Generate and track FIR and case numbers.</a:t>
            </a:r>
          </a:p>
          <a:p>
            <a:r>
              <a:rPr lang="en-US" dirty="0"/>
              <a:t>Assign cases to investigating officers.</a:t>
            </a:r>
          </a:p>
          <a:p>
            <a:r>
              <a:rPr lang="en-US" dirty="0"/>
              <a:t>Update case status during different stages of investigation.</a:t>
            </a:r>
          </a:p>
          <a:p>
            <a:r>
              <a:rPr lang="en-US" dirty="0"/>
              <a:t>Maintain complete case history for reference and legal purposes.</a:t>
            </a:r>
          </a:p>
          <a:p>
            <a:endParaRPr lang="en-IN" dirty="0"/>
          </a:p>
        </p:txBody>
      </p:sp>
      <p:pic>
        <p:nvPicPr>
          <p:cNvPr id="4" name="Picture 5" descr="SIMATS ENGINEERING —Profile">
            <a:extLst>
              <a:ext uri="{FF2B5EF4-FFF2-40B4-BE49-F238E27FC236}">
                <a16:creationId xmlns:a16="http://schemas.microsoft.com/office/drawing/2014/main" id="{63474CE8-1882-CD1C-232A-DC9F8AEFF7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-12796" r="89595" b="-1"/>
          <a:stretch>
            <a:fillRect/>
          </a:stretch>
        </p:blipFill>
        <p:spPr bwMode="auto">
          <a:xfrm>
            <a:off x="78747" y="-64467"/>
            <a:ext cx="844859" cy="1107995"/>
          </a:xfrm>
          <a:prstGeom prst="rect">
            <a:avLst/>
          </a:prstGeom>
          <a:noFill/>
        </p:spPr>
      </p:pic>
      <p:pic>
        <p:nvPicPr>
          <p:cNvPr id="5" name="Picture 6" descr="SIMATS ENGINEERING —Profile">
            <a:extLst>
              <a:ext uri="{FF2B5EF4-FFF2-40B4-BE49-F238E27FC236}">
                <a16:creationId xmlns:a16="http://schemas.microsoft.com/office/drawing/2014/main" id="{564F694C-16EB-E1E4-91EE-242C383D6B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51846" r="34307" b="275"/>
          <a:stretch>
            <a:fillRect/>
          </a:stretch>
        </p:blipFill>
        <p:spPr bwMode="auto">
          <a:xfrm>
            <a:off x="11125200" y="63938"/>
            <a:ext cx="1066800" cy="9795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43879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95F2D-8B8F-9A18-29DF-0BA1D6349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Module 2: Criminal &amp; Victim Records Management</a:t>
            </a:r>
          </a:p>
        </p:txBody>
      </p:sp>
      <p:pic>
        <p:nvPicPr>
          <p:cNvPr id="4" name="Picture 5" descr="SIMATS ENGINEERING —Profile">
            <a:extLst>
              <a:ext uri="{FF2B5EF4-FFF2-40B4-BE49-F238E27FC236}">
                <a16:creationId xmlns:a16="http://schemas.microsoft.com/office/drawing/2014/main" id="{B889071B-54CA-EBF9-9CAE-98763BBFDF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-12796" r="89595" b="-1"/>
          <a:stretch>
            <a:fillRect/>
          </a:stretch>
        </p:blipFill>
        <p:spPr bwMode="auto">
          <a:xfrm>
            <a:off x="68915" y="-11680"/>
            <a:ext cx="844859" cy="1107995"/>
          </a:xfrm>
          <a:prstGeom prst="rect">
            <a:avLst/>
          </a:prstGeom>
          <a:noFill/>
        </p:spPr>
      </p:pic>
      <p:pic>
        <p:nvPicPr>
          <p:cNvPr id="5" name="Picture 6" descr="SIMATS ENGINEERING —Profile">
            <a:extLst>
              <a:ext uri="{FF2B5EF4-FFF2-40B4-BE49-F238E27FC236}">
                <a16:creationId xmlns:a16="http://schemas.microsoft.com/office/drawing/2014/main" id="{670444CA-53FC-9EAF-7447-E64C449E0A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51846" r="34307" b="275"/>
          <a:stretch>
            <a:fillRect/>
          </a:stretch>
        </p:blipFill>
        <p:spPr bwMode="auto">
          <a:xfrm>
            <a:off x="11125200" y="34442"/>
            <a:ext cx="1066800" cy="979590"/>
          </a:xfrm>
          <a:prstGeom prst="rect">
            <a:avLst/>
          </a:prstGeom>
          <a:noFill/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C557FEA5-A249-5C77-79D8-FE472D3FEB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255688"/>
            <a:ext cx="10183761" cy="3491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Store and manage criminal personal information.</a:t>
            </a:r>
          </a:p>
          <a:p>
            <a:r>
              <a:rPr lang="en-US" dirty="0"/>
              <a:t>Maintain criminal history and repeat offense records.</a:t>
            </a:r>
          </a:p>
          <a:p>
            <a:r>
              <a:rPr lang="en-US" dirty="0"/>
              <a:t>Record victim details related to each crime.</a:t>
            </a:r>
          </a:p>
          <a:p>
            <a:r>
              <a:rPr lang="en-US" dirty="0"/>
              <a:t>Link criminals and victims with respective crime cases.</a:t>
            </a:r>
          </a:p>
          <a:p>
            <a:r>
              <a:rPr lang="en-US" dirty="0"/>
              <a:t>Support identification and verification of individuals.</a:t>
            </a:r>
          </a:p>
          <a:p>
            <a:r>
              <a:rPr lang="en-US" dirty="0"/>
              <a:t>Provide structured records for investigation and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648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5A52E-0411-A24B-EA11-6042556B6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Module 3: User Management &amp;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862CF-2861-2AF4-8D4D-11166BC54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Manage users such as administrators and police officials.</a:t>
            </a:r>
          </a:p>
          <a:p>
            <a:r>
              <a:rPr lang="en-US" dirty="0"/>
              <a:t>Control system access based on user roles.</a:t>
            </a:r>
          </a:p>
          <a:p>
            <a:r>
              <a:rPr lang="en-US" dirty="0"/>
              <a:t>Ensure security and confidentiality of sensitive data.</a:t>
            </a:r>
          </a:p>
          <a:p>
            <a:r>
              <a:rPr lang="en-US" dirty="0"/>
              <a:t>Generate crime reports and statistical summaries.</a:t>
            </a:r>
          </a:p>
          <a:p>
            <a:r>
              <a:rPr lang="en-US" dirty="0"/>
              <a:t>Support crime trend analysis and decision-making.</a:t>
            </a:r>
          </a:p>
          <a:p>
            <a:r>
              <a:rPr lang="en-US" dirty="0"/>
              <a:t>Maintain logs of user activities for accountability.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5" descr="SIMATS ENGINEERING —Profile">
            <a:extLst>
              <a:ext uri="{FF2B5EF4-FFF2-40B4-BE49-F238E27FC236}">
                <a16:creationId xmlns:a16="http://schemas.microsoft.com/office/drawing/2014/main" id="{F1C163C8-7FFD-B853-E0E2-5349FFC8E7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-12796" r="89595" b="-1"/>
          <a:stretch>
            <a:fillRect/>
          </a:stretch>
        </p:blipFill>
        <p:spPr bwMode="auto">
          <a:xfrm>
            <a:off x="68915" y="-11680"/>
            <a:ext cx="844859" cy="1107995"/>
          </a:xfrm>
          <a:prstGeom prst="rect">
            <a:avLst/>
          </a:prstGeom>
          <a:noFill/>
        </p:spPr>
      </p:pic>
      <p:pic>
        <p:nvPicPr>
          <p:cNvPr id="5" name="Picture 6" descr="SIMATS ENGINEERING —Profile">
            <a:extLst>
              <a:ext uri="{FF2B5EF4-FFF2-40B4-BE49-F238E27FC236}">
                <a16:creationId xmlns:a16="http://schemas.microsoft.com/office/drawing/2014/main" id="{AF7361FD-6A51-641F-22A3-EDE51FCFD2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51846" r="34307" b="275"/>
          <a:stretch>
            <a:fillRect/>
          </a:stretch>
        </p:blipFill>
        <p:spPr bwMode="auto">
          <a:xfrm>
            <a:off x="11125200" y="34442"/>
            <a:ext cx="1066800" cy="9795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6516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FEB3-93BA-A1FC-3B68-7ED9EC838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 and Discussion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49C21-0D3A-302D-0167-4CBAF6256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Crime Record Management System provides centralized storage of crime-related data.</a:t>
            </a:r>
          </a:p>
          <a:p>
            <a:r>
              <a:rPr lang="en-US" dirty="0"/>
              <a:t>Record management is faster and more accurate than manual systems.</a:t>
            </a:r>
          </a:p>
          <a:p>
            <a:r>
              <a:rPr lang="en-US" dirty="0"/>
              <a:t>Easy search and retrieval reduce time and effort in investigations.</a:t>
            </a:r>
          </a:p>
          <a:p>
            <a:r>
              <a:rPr lang="en-US" dirty="0"/>
              <a:t>Data redundancy is minimized through structured database design.</a:t>
            </a:r>
          </a:p>
          <a:p>
            <a:r>
              <a:rPr lang="en-US" dirty="0"/>
              <a:t>Role-based access improves data security and confidentiality.</a:t>
            </a:r>
          </a:p>
          <a:p>
            <a:r>
              <a:rPr lang="en-US" dirty="0"/>
              <a:t>Report generation supports effective crime analysis and decision-making.</a:t>
            </a:r>
          </a:p>
          <a:p>
            <a:endParaRPr lang="en-IN" dirty="0"/>
          </a:p>
        </p:txBody>
      </p:sp>
      <p:pic>
        <p:nvPicPr>
          <p:cNvPr id="4" name="Picture 5" descr="SIMATS ENGINEERING —Profile">
            <a:extLst>
              <a:ext uri="{FF2B5EF4-FFF2-40B4-BE49-F238E27FC236}">
                <a16:creationId xmlns:a16="http://schemas.microsoft.com/office/drawing/2014/main" id="{E72BB68F-867D-B568-2D5C-5FBAC07CE5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-12796" r="89595" b="-1"/>
          <a:stretch>
            <a:fillRect/>
          </a:stretch>
        </p:blipFill>
        <p:spPr bwMode="auto">
          <a:xfrm>
            <a:off x="68915" y="-11680"/>
            <a:ext cx="844859" cy="1107995"/>
          </a:xfrm>
          <a:prstGeom prst="rect">
            <a:avLst/>
          </a:prstGeom>
          <a:noFill/>
        </p:spPr>
      </p:pic>
      <p:pic>
        <p:nvPicPr>
          <p:cNvPr id="5" name="Picture 6" descr="SIMATS ENGINEERING —Profile">
            <a:extLst>
              <a:ext uri="{FF2B5EF4-FFF2-40B4-BE49-F238E27FC236}">
                <a16:creationId xmlns:a16="http://schemas.microsoft.com/office/drawing/2014/main" id="{C45E42B1-4EF5-6691-78C5-8A06495DAC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51846" r="34307" b="275"/>
          <a:stretch>
            <a:fillRect/>
          </a:stretch>
        </p:blipFill>
        <p:spPr bwMode="auto">
          <a:xfrm>
            <a:off x="11125200" y="34442"/>
            <a:ext cx="1066800" cy="9795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3382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C9BD1-0D90-BEEC-F27E-8177D83C6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59AA6E-EBEE-DFFF-197F-CEC8408AE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Crime Record Management System provides an efficient and organized approach to managing crime records.</a:t>
            </a:r>
          </a:p>
          <a:p>
            <a:r>
              <a:rPr lang="en-US" dirty="0"/>
              <a:t>It replaces manual record-keeping with a centralized digital system.</a:t>
            </a:r>
          </a:p>
          <a:p>
            <a:r>
              <a:rPr lang="en-US" dirty="0"/>
              <a:t>The system improves data accuracy, security, and accessibility.</a:t>
            </a:r>
          </a:p>
          <a:p>
            <a:r>
              <a:rPr lang="en-US" dirty="0"/>
              <a:t>It supports faster investigations and better decision-making.</a:t>
            </a:r>
          </a:p>
          <a:p>
            <a:r>
              <a:rPr lang="en-US" dirty="0"/>
              <a:t>Overall, the system enhances the effectiveness of law enforcement operations.</a:t>
            </a:r>
          </a:p>
          <a:p>
            <a:endParaRPr lang="en-IN" dirty="0"/>
          </a:p>
        </p:txBody>
      </p:sp>
      <p:pic>
        <p:nvPicPr>
          <p:cNvPr id="6" name="Picture 5" descr="SIMATS ENGINEERING —Profile">
            <a:extLst>
              <a:ext uri="{FF2B5EF4-FFF2-40B4-BE49-F238E27FC236}">
                <a16:creationId xmlns:a16="http://schemas.microsoft.com/office/drawing/2014/main" id="{EFD08C7E-06A0-83D3-74EB-E0FE681505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-12796" r="89595" b="-1"/>
          <a:stretch>
            <a:fillRect/>
          </a:stretch>
        </p:blipFill>
        <p:spPr bwMode="auto">
          <a:xfrm>
            <a:off x="68915" y="-11680"/>
            <a:ext cx="844859" cy="1107995"/>
          </a:xfrm>
          <a:prstGeom prst="rect">
            <a:avLst/>
          </a:prstGeom>
          <a:noFill/>
        </p:spPr>
      </p:pic>
      <p:pic>
        <p:nvPicPr>
          <p:cNvPr id="7" name="Picture 6" descr="SIMATS ENGINEERING —Profile">
            <a:extLst>
              <a:ext uri="{FF2B5EF4-FFF2-40B4-BE49-F238E27FC236}">
                <a16:creationId xmlns:a16="http://schemas.microsoft.com/office/drawing/2014/main" id="{A9B752AA-D08D-4F6D-DDC7-1158DBCE2D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51846" r="34307" b="275"/>
          <a:stretch>
            <a:fillRect/>
          </a:stretch>
        </p:blipFill>
        <p:spPr bwMode="auto">
          <a:xfrm>
            <a:off x="11125200" y="34442"/>
            <a:ext cx="1066800" cy="9795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59897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A559-3977-A238-4023-40BA81029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Future Enhancements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3D85B-6235-3ECC-9394-7088C09FE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Integration with biometric systems such as fingerprint and face recognition.</a:t>
            </a:r>
          </a:p>
          <a:p>
            <a:r>
              <a:rPr lang="en-US" dirty="0"/>
              <a:t>Real-time crime data sharing between different police departments.</a:t>
            </a:r>
          </a:p>
          <a:p>
            <a:r>
              <a:rPr lang="en-US" dirty="0"/>
              <a:t>Advanced crime analysis using data analytics and AI.</a:t>
            </a:r>
          </a:p>
          <a:p>
            <a:r>
              <a:rPr lang="en-US" dirty="0"/>
              <a:t>Mobile application support for field officers.</a:t>
            </a:r>
          </a:p>
          <a:p>
            <a:r>
              <a:rPr lang="en-US" dirty="0"/>
              <a:t>GPS-based crime location tracking and mapping.</a:t>
            </a:r>
          </a:p>
          <a:p>
            <a:r>
              <a:rPr lang="en-US" dirty="0"/>
              <a:t>Cloud-based storage for better scalability and availability.</a:t>
            </a:r>
          </a:p>
          <a:p>
            <a:endParaRPr lang="en-IN" dirty="0"/>
          </a:p>
        </p:txBody>
      </p:sp>
      <p:pic>
        <p:nvPicPr>
          <p:cNvPr id="4" name="Picture 3" descr="SIMATS ENGINEERING —Profile">
            <a:extLst>
              <a:ext uri="{FF2B5EF4-FFF2-40B4-BE49-F238E27FC236}">
                <a16:creationId xmlns:a16="http://schemas.microsoft.com/office/drawing/2014/main" id="{0104D6EF-DC20-B118-1F43-1EA7B20527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-12796" r="89595" b="-1"/>
          <a:stretch>
            <a:fillRect/>
          </a:stretch>
        </p:blipFill>
        <p:spPr bwMode="auto">
          <a:xfrm>
            <a:off x="68915" y="-11680"/>
            <a:ext cx="844859" cy="1107995"/>
          </a:xfrm>
          <a:prstGeom prst="rect">
            <a:avLst/>
          </a:prstGeom>
          <a:noFill/>
        </p:spPr>
      </p:pic>
      <p:pic>
        <p:nvPicPr>
          <p:cNvPr id="5" name="Picture 4" descr="SIMATS ENGINEERING —Profile">
            <a:extLst>
              <a:ext uri="{FF2B5EF4-FFF2-40B4-BE49-F238E27FC236}">
                <a16:creationId xmlns:a16="http://schemas.microsoft.com/office/drawing/2014/main" id="{878A7AC4-4C37-A3AB-18B1-2D9911C946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51846" r="34307" b="275"/>
          <a:stretch>
            <a:fillRect/>
          </a:stretch>
        </p:blipFill>
        <p:spPr bwMode="auto">
          <a:xfrm>
            <a:off x="11125200" y="34442"/>
            <a:ext cx="1066800" cy="9795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76607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757F-3824-C548-A9D8-87951E71C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References</a:t>
            </a:r>
            <a:r>
              <a:rPr lang="en-IN" b="1" dirty="0"/>
              <a:t> 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123C12-ABD3-D241-FA10-21DCABD90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K. K. Patil, S. R. Patil, “Design and Implementation of Crime Record Management System,” </a:t>
            </a:r>
            <a:r>
              <a:rPr lang="en-IN" i="1" dirty="0"/>
              <a:t>International Journal of Computer Applications</a:t>
            </a:r>
            <a:r>
              <a:rPr lang="en-IN" dirty="0"/>
              <a:t>, Vol. 120, No. 5, 2015.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 A. Sharma, R. Singh, “Web-Based Crime Information Management System Using Database Technologies,” </a:t>
            </a:r>
            <a:r>
              <a:rPr lang="en-IN" i="1" dirty="0"/>
              <a:t>International Journal of Engineering Research and Technology (IJERT)</a:t>
            </a:r>
            <a:r>
              <a:rPr lang="en-IN" dirty="0"/>
              <a:t>, Vol. 6, Issue 4, 2017.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M. A. Ahmed, S. H. Khan, “Crime Data Management and Analysis Using Database Systems,” </a:t>
            </a:r>
            <a:r>
              <a:rPr lang="en-IN" i="1" dirty="0"/>
              <a:t>International Journal of Advanced Research in Computer Science</a:t>
            </a:r>
            <a:r>
              <a:rPr lang="en-IN" dirty="0"/>
              <a:t>, Vol. 9, No. 2, 2018.</a:t>
            </a:r>
          </a:p>
          <a:p>
            <a:endParaRPr lang="en-IN" dirty="0"/>
          </a:p>
        </p:txBody>
      </p:sp>
      <p:pic>
        <p:nvPicPr>
          <p:cNvPr id="6" name="Picture 5" descr="SIMATS ENGINEERING —Profile">
            <a:extLst>
              <a:ext uri="{FF2B5EF4-FFF2-40B4-BE49-F238E27FC236}">
                <a16:creationId xmlns:a16="http://schemas.microsoft.com/office/drawing/2014/main" id="{526D3439-9F1E-089A-7F26-AF5302AC30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-12796" r="89595" b="-1"/>
          <a:stretch>
            <a:fillRect/>
          </a:stretch>
        </p:blipFill>
        <p:spPr bwMode="auto">
          <a:xfrm>
            <a:off x="68915" y="-11680"/>
            <a:ext cx="844859" cy="1107995"/>
          </a:xfrm>
          <a:prstGeom prst="rect">
            <a:avLst/>
          </a:prstGeom>
          <a:noFill/>
        </p:spPr>
      </p:pic>
      <p:pic>
        <p:nvPicPr>
          <p:cNvPr id="7" name="Picture 6" descr="SIMATS ENGINEERING —Profile">
            <a:extLst>
              <a:ext uri="{FF2B5EF4-FFF2-40B4-BE49-F238E27FC236}">
                <a16:creationId xmlns:a16="http://schemas.microsoft.com/office/drawing/2014/main" id="{76B8E8A9-B6D6-BCE8-C1C1-6D2639B1A0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51846" r="34307" b="275"/>
          <a:stretch>
            <a:fillRect/>
          </a:stretch>
        </p:blipFill>
        <p:spPr bwMode="auto">
          <a:xfrm>
            <a:off x="11125200" y="34442"/>
            <a:ext cx="1066800" cy="9795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1779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751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Crime Record Management System</vt:lpstr>
      <vt:lpstr>INTRODUCTION</vt:lpstr>
      <vt:lpstr>PROBLEM STATEMENT</vt:lpstr>
      <vt:lpstr>OBJECTIVES</vt:lpstr>
      <vt:lpstr>PROPOSED SYSTEM</vt:lpstr>
      <vt:lpstr>ER DIAGRAM</vt:lpstr>
      <vt:lpstr>Module 1: Crime &amp; Case Management</vt:lpstr>
      <vt:lpstr>Module 2: Criminal &amp; Victim Records Management</vt:lpstr>
      <vt:lpstr>Module 3: User Management &amp; Reporting</vt:lpstr>
      <vt:lpstr>Results and Discussion</vt:lpstr>
      <vt:lpstr>Conclusion</vt:lpstr>
      <vt:lpstr>Future Enhancements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DEVI</dc:creator>
  <cp:lastModifiedBy>LAKSHMI DEVI</cp:lastModifiedBy>
  <cp:revision>4</cp:revision>
  <dcterms:created xsi:type="dcterms:W3CDTF">2026-01-02T14:21:31Z</dcterms:created>
  <dcterms:modified xsi:type="dcterms:W3CDTF">2026-01-17T10:38:05Z</dcterms:modified>
</cp:coreProperties>
</file>