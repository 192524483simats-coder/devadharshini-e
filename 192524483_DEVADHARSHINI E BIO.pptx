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6" r:id="rId3"/>
    <p:sldId id="260" r:id="rId4"/>
    <p:sldId id="257" r:id="rId5"/>
    <p:sldId id="258" r:id="rId6"/>
    <p:sldId id="261" r:id="rId7"/>
    <p:sldId id="270" r:id="rId8"/>
    <p:sldId id="271" r:id="rId9"/>
    <p:sldId id="272" r:id="rId10"/>
    <p:sldId id="273" r:id="rId11"/>
    <p:sldId id="276" r:id="rId12"/>
    <p:sldId id="274" r:id="rId13"/>
    <p:sldId id="275" r:id="rId14"/>
    <p:sldId id="265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>
        <p:scale>
          <a:sx n="50" d="100"/>
          <a:sy n="50" d="100"/>
        </p:scale>
        <p:origin x="1320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40FD3-FFDE-FE7D-25A2-36BD906E1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7AF7B9-E206-3AAF-4A5C-CA8DDE5AC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CA236-847D-F186-7C56-C937F445F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1CBF-DD42-4976-9871-BC29EAB75A71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29B1A-B4A0-E25C-2E6F-05CF4F32E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C4BEC-F50D-2679-8F43-C06FCABAF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AE06-B1BA-440B-997B-5113ED853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611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3EA7C-71BE-7055-8B85-CAE4E6665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43ACB-AFB9-7D95-2AB6-A6F061004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F593A-FF6A-1097-D6F1-1C8980FFB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1CBF-DD42-4976-9871-BC29EAB75A71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EAD02-B2E7-E4B8-BF63-973A31399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E2478-7BC5-177C-8ECF-69DB1E7C3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AE06-B1BA-440B-997B-5113ED853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567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2F483-E364-711E-13C4-6620EAA57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BA727-633F-7A56-28F3-BF1C64C64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A1E25-3C54-83AA-8377-E1FBC8A34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1CBF-DD42-4976-9871-BC29EAB75A71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FF047-6A86-454D-4336-43E1ECA06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03DAC-4650-76A9-7988-C47B5DA26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AE06-B1BA-440B-997B-5113ED853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360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CF307-0B51-7EF6-C76C-F17B87D6A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566E6-7C53-C1EC-66AC-FA6169CE6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506D5D-D23D-E6F8-64D1-6D3C4227C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379BB8-FBBD-542B-D0E6-E63C1C9DF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1CBF-DD42-4976-9871-BC29EAB75A71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65AC2-CD25-7A98-446E-0F0255599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2D4729-4F4F-AD78-C3DE-3A6C8D60D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AE06-B1BA-440B-997B-5113ED853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086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3C64E-AABF-2FBF-99C6-0B2B88202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95601-E733-BEF8-6BEE-F096455A2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E475F-B8C3-9B7D-F0FB-76AD8C926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C419CC-4629-6125-5FCF-1D0FCCB94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28DF0A-F852-C900-3BDE-E258E21464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10A612-0798-B9AE-A67C-EAB7638C1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1CBF-DD42-4976-9871-BC29EAB75A71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18AAE4-1FE5-E04F-CBC6-73A643339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53E402-C3BB-8EAE-3E10-94D388E47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AE06-B1BA-440B-997B-5113ED853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883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B190A-5016-0F3E-A843-7ADF54385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B5E661-F510-A499-B924-08178C9A6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1CBF-DD42-4976-9871-BC29EAB75A71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491D-2AD5-46E1-BC2B-451C4BB96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940C29-819A-BEA6-DBD5-7B2A17C0A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AE06-B1BA-440B-997B-5113ED853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188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64015C-46E7-0781-D009-A0B7D664E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1CBF-DD42-4976-9871-BC29EAB75A71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D91B96-A47C-64C8-E05C-AD99D4D92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3633C-3820-7651-3C97-34E1B86AA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AE06-B1BA-440B-997B-5113ED853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189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0E1EC-FD0F-DA97-9CD1-989DA098E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22EF6-C2B8-488A-7010-340D62D2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8FA004-E2CA-A002-96FD-4400556B5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DB209-F0A4-1F92-9FA6-C9F3B203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1CBF-DD42-4976-9871-BC29EAB75A71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A36BF-CAA9-9BE7-59AE-7A6ECC9C1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90F902-0544-203B-2C94-F15A82C7F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AE06-B1BA-440B-997B-5113ED853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993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1F6B1-1B87-48C3-23F1-D86A24606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70A127-E49C-20EC-FC4C-7AAAB5B542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B995C8-7D02-B610-F71A-A6EA9A653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7D180-F61E-3D25-40F9-C7008CC57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1CBF-DD42-4976-9871-BC29EAB75A71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EC489-CBFF-D8CC-CABD-65443507A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3CCD9-2611-F053-D7BF-757F82DCC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AE06-B1BA-440B-997B-5113ED853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897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8485-9B1C-558B-A2FA-F18098ECB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47AED-13CE-287A-F43D-E23242123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5AFAF-574D-00C1-00BC-991D7DCED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1CBF-DD42-4976-9871-BC29EAB75A71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3E930-8B9A-1ED2-169E-280C57C4B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24F87-3066-9BF9-B270-BCDE8BBAC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AE06-B1BA-440B-997B-5113ED853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668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D71512-C6BA-9FB9-3B78-869498573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D15452-05BB-01B5-D919-4DE5A25F7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1284D-37F3-C361-857C-82199BE50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1CBF-DD42-4976-9871-BC29EAB75A71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8DCCB-E5CF-7BA3-BD24-651F1C77F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5BC19-BF03-D0D0-9D52-6BAFD6690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AE06-B1BA-440B-997B-5113ED853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95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F164D0-AAB8-02C4-3C3B-C21AB8EAB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780DF-8ADF-5A49-5482-80E60B717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0466C-62C1-8676-A55A-649D1F2C55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7B1CBF-DD42-4976-9871-BC29EAB75A71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6BA91-E06D-994D-6839-4460CBFFD9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CBE5C-D898-2066-6A02-43471A464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1AE06-B1BA-440B-997B-5113ED853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43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E6D1D-784C-B3FA-85E9-133CF9A01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9" y="1926771"/>
            <a:ext cx="9089571" cy="1058025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SOIL MOISTURE MONITORING USING AURDINO WITH OLED DISPLAY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D7B2CD-08A1-62B2-1A0A-1B3693E97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5093" y="4811486"/>
            <a:ext cx="4302369" cy="1338943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ts val="4759"/>
              </a:lnSpc>
            </a:pPr>
            <a:r>
              <a:rPr lang="en-US" sz="8000" b="1" dirty="0"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8000" b="1" dirty="0"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DEVADHARSHINI E -192524483 VANDHANA P -192525423 </a:t>
            </a:r>
          </a:p>
          <a:p>
            <a:pPr>
              <a:lnSpc>
                <a:spcPts val="4759"/>
              </a:lnSpc>
            </a:pPr>
            <a:r>
              <a:rPr lang="en-US" sz="2000" b="1" dirty="0">
                <a:latin typeface="Canva Sans Bold"/>
                <a:ea typeface="Canva Sans Bold"/>
                <a:cs typeface="Canva Sans Bold"/>
                <a:sym typeface="Canva Sans Bold"/>
              </a:rPr>
              <a:t>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F386F6-F1A5-7295-AC90-A8FC086D377B}"/>
              </a:ext>
            </a:extLst>
          </p:cNvPr>
          <p:cNvSpPr txBox="1"/>
          <p:nvPr/>
        </p:nvSpPr>
        <p:spPr>
          <a:xfrm>
            <a:off x="8458199" y="4811486"/>
            <a:ext cx="2848707" cy="2349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Judy Simon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Arockia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Jayadas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5600"/>
              </a:lnSpc>
            </a:pPr>
            <a:r>
              <a:rPr lang="en-US" sz="2000" b="1" dirty="0"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3B6353-1495-71FE-1030-A9487B103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707" y="450513"/>
            <a:ext cx="9659155" cy="12516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59A700-82C9-03C2-B4EF-9FE93CF611AE}"/>
              </a:ext>
            </a:extLst>
          </p:cNvPr>
          <p:cNvSpPr txBox="1"/>
          <p:nvPr/>
        </p:nvSpPr>
        <p:spPr>
          <a:xfrm>
            <a:off x="885093" y="2906799"/>
            <a:ext cx="10120364" cy="622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881"/>
              </a:lnSpc>
            </a:pPr>
            <a:r>
              <a:rPr lang="en-US" sz="2000" b="1" dirty="0"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ECA -4751 Principle of digital system and design for marine engineering</a:t>
            </a:r>
          </a:p>
        </p:txBody>
      </p:sp>
    </p:spTree>
    <p:extLst>
      <p:ext uri="{BB962C8B-B14F-4D97-AF65-F5344CB8AC3E}">
        <p14:creationId xmlns:p14="http://schemas.microsoft.com/office/powerpoint/2010/main" val="1284467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FC21D-F3FE-44B3-AA2F-C8FBB58C2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6046" y="471732"/>
            <a:ext cx="8639908" cy="574552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72E21E-06F4-AAA8-D09D-2E2654253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1478363"/>
            <a:ext cx="11092543" cy="5713745"/>
          </a:xfrm>
        </p:spPr>
        <p:txBody>
          <a:bodyPr>
            <a:noAutofit/>
          </a:bodyPr>
          <a:lstStyle/>
          <a:p>
            <a:endParaRPr lang="en-US" b="1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 monitoring is essential in agriculture to ensure proper irrigation and water conservation.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irrigation methods often lead to overwatering or underwatering, affecting crop yield.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an Arduino microcontroller with a soil moisture sensor to measure soil water content.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OLED display is used to show real-time moisture values clearly and efficiently.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Picture 491">
            <a:extLst>
              <a:ext uri="{FF2B5EF4-FFF2-40B4-BE49-F238E27FC236}">
                <a16:creationId xmlns:a16="http://schemas.microsoft.com/office/drawing/2014/main" id="{85244B0D-5C50-7539-2B71-A30E49886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735" y="261257"/>
            <a:ext cx="1204837" cy="11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93">
            <a:extLst>
              <a:ext uri="{FF2B5EF4-FFF2-40B4-BE49-F238E27FC236}">
                <a16:creationId xmlns:a16="http://schemas.microsoft.com/office/drawing/2014/main" id="{E662A583-D6B9-699D-912E-250A3EEA9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920" y="261257"/>
            <a:ext cx="1211710" cy="11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6912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4564A-415B-6F00-73DE-1E58522B9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7542" y="478972"/>
            <a:ext cx="9100457" cy="555171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0564F4-F657-8181-7F28-8E1E17920D0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230086" y="3083079"/>
            <a:ext cx="11316034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01F34EF-7840-25FB-D277-C01D5FAFF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233921"/>
              </p:ext>
            </p:extLst>
          </p:nvPr>
        </p:nvGraphicFramePr>
        <p:xfrm>
          <a:off x="0" y="1651280"/>
          <a:ext cx="12192000" cy="52067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109756592"/>
                    </a:ext>
                  </a:extLst>
                </a:gridCol>
                <a:gridCol w="1926771">
                  <a:extLst>
                    <a:ext uri="{9D8B030D-6E8A-4147-A177-3AD203B41FA5}">
                      <a16:colId xmlns:a16="http://schemas.microsoft.com/office/drawing/2014/main" val="596905947"/>
                    </a:ext>
                  </a:extLst>
                </a:gridCol>
                <a:gridCol w="3766458">
                  <a:extLst>
                    <a:ext uri="{9D8B030D-6E8A-4147-A177-3AD203B41FA5}">
                      <a16:colId xmlns:a16="http://schemas.microsoft.com/office/drawing/2014/main" val="2117440520"/>
                    </a:ext>
                  </a:extLst>
                </a:gridCol>
                <a:gridCol w="3450771">
                  <a:extLst>
                    <a:ext uri="{9D8B030D-6E8A-4147-A177-3AD203B41FA5}">
                      <a16:colId xmlns:a16="http://schemas.microsoft.com/office/drawing/2014/main" val="3073476670"/>
                    </a:ext>
                  </a:extLst>
                </a:gridCol>
              </a:tblGrid>
              <a:tr h="639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/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5946727"/>
                  </a:ext>
                </a:extLst>
              </a:tr>
              <a:tr h="91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Smith et al., 2019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Irrigation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 + Moisture Sensor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water wastage by 30%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6422899"/>
                  </a:ext>
                </a:extLst>
              </a:tr>
              <a:tr h="91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 &amp; Rao, 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IoT-based Soil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 + WiFi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Enabled remote monitoring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7350193"/>
                  </a:ext>
                </a:extLst>
              </a:tr>
              <a:tr h="911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Patel et al., 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 Farming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 + OLED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crop yield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462419"/>
                  </a:ext>
                </a:extLst>
              </a:tr>
              <a:tr h="91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Lee et al., 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Agriculture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 + Sensors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irrigation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197207"/>
                  </a:ext>
                </a:extLst>
              </a:tr>
              <a:tr h="91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/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8658266"/>
                  </a:ext>
                </a:extLst>
              </a:tr>
            </a:tbl>
          </a:graphicData>
        </a:graphic>
      </p:graphicFrame>
      <p:pic>
        <p:nvPicPr>
          <p:cNvPr id="6" name="Picture 493">
            <a:extLst>
              <a:ext uri="{FF2B5EF4-FFF2-40B4-BE49-F238E27FC236}">
                <a16:creationId xmlns:a16="http://schemas.microsoft.com/office/drawing/2014/main" id="{DC2BB8F4-177C-0AE5-2688-627871BF1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920" y="261257"/>
            <a:ext cx="1211710" cy="11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91">
            <a:extLst>
              <a:ext uri="{FF2B5EF4-FFF2-40B4-BE49-F238E27FC236}">
                <a16:creationId xmlns:a16="http://schemas.microsoft.com/office/drawing/2014/main" id="{08387A2A-A8AF-880D-398C-A6CDA583C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735" y="261257"/>
            <a:ext cx="1204837" cy="11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328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6E7D0-D5B3-5C42-F804-EFFD65FEF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0863"/>
            <a:ext cx="9144000" cy="66247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39D744-5F98-E3DF-2E9D-E0C02C45D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09600" y="1723171"/>
            <a:ext cx="9405257" cy="4583966"/>
          </a:xfrm>
        </p:spPr>
        <p:txBody>
          <a:bodyPr>
            <a:normAutofit fontScale="25000" lnSpcReduction="20000"/>
          </a:bodyPr>
          <a:lstStyle/>
          <a:p>
            <a:pPr marL="1143000" indent="-11430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and gardeners often irrigate crops without knowing whether the soil is dry, normal, or already wet.</a:t>
            </a:r>
          </a:p>
          <a:p>
            <a:pPr marL="1143000" indent="-11430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results in water wastage, poor crop growth, and increased power consumption.</a:t>
            </a:r>
          </a:p>
          <a:p>
            <a:pPr marL="1143000" indent="-11430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clear visual indication of soil condition in traditional methods.</a:t>
            </a:r>
            <a:b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a system is required to identify soil condition and display Dry, Normal, or Wet status clearly.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493">
            <a:extLst>
              <a:ext uri="{FF2B5EF4-FFF2-40B4-BE49-F238E27FC236}">
                <a16:creationId xmlns:a16="http://schemas.microsoft.com/office/drawing/2014/main" id="{A1838750-DFA8-3FD1-9A18-611023765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920" y="261257"/>
            <a:ext cx="1211710" cy="11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91">
            <a:extLst>
              <a:ext uri="{FF2B5EF4-FFF2-40B4-BE49-F238E27FC236}">
                <a16:creationId xmlns:a16="http://schemas.microsoft.com/office/drawing/2014/main" id="{FC89706A-BF34-CDEB-4FCE-852F092E5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735" y="261257"/>
            <a:ext cx="1204837" cy="11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form 10">
            <a:extLst>
              <a:ext uri="{FF2B5EF4-FFF2-40B4-BE49-F238E27FC236}">
                <a16:creationId xmlns:a16="http://schemas.microsoft.com/office/drawing/2014/main" id="{A1AC272C-D23D-B5B2-69D1-C214D5F74790}"/>
              </a:ext>
            </a:extLst>
          </p:cNvPr>
          <p:cNvSpPr/>
          <p:nvPr/>
        </p:nvSpPr>
        <p:spPr>
          <a:xfrm>
            <a:off x="8583717" y="1943398"/>
            <a:ext cx="3608283" cy="3527323"/>
          </a:xfrm>
          <a:custGeom>
            <a:avLst/>
            <a:gdLst/>
            <a:ahLst/>
            <a:cxnLst/>
            <a:rect l="l" t="t" r="r" b="b"/>
            <a:pathLst>
              <a:path w="4740727" h="4424679">
                <a:moveTo>
                  <a:pt x="0" y="0"/>
                </a:moveTo>
                <a:lnTo>
                  <a:pt x="4740727" y="0"/>
                </a:lnTo>
                <a:lnTo>
                  <a:pt x="4740727" y="4424679"/>
                </a:lnTo>
                <a:lnTo>
                  <a:pt x="0" y="44246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9053786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6E17F-9FE0-45BF-ED98-089CE94C2F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33278"/>
            <a:ext cx="9144000" cy="715229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137D7B-3411-6691-6C9E-51A7C387A9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2108200"/>
            <a:ext cx="7569200" cy="3130350"/>
          </a:xfrm>
        </p:spPr>
        <p:txBody>
          <a:bodyPr>
            <a:normAutofit lnSpcReduction="10000"/>
          </a:bodyPr>
          <a:lstStyle/>
          <a:p>
            <a:pPr lvl="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measure soil moisture level using a sensor</a:t>
            </a:r>
          </a:p>
          <a:p>
            <a:pPr lvl="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display moisture percentage on an OLED display</a:t>
            </a:r>
          </a:p>
          <a:p>
            <a:pPr lvl="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water wastage through proper monitoring</a:t>
            </a:r>
          </a:p>
          <a:p>
            <a:pPr lvl="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simple and low-cost system for farmers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93">
            <a:extLst>
              <a:ext uri="{FF2B5EF4-FFF2-40B4-BE49-F238E27FC236}">
                <a16:creationId xmlns:a16="http://schemas.microsoft.com/office/drawing/2014/main" id="{C659DA4F-0DA0-3DA4-8738-82A7E9A35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920" y="261257"/>
            <a:ext cx="1211710" cy="11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91">
            <a:extLst>
              <a:ext uri="{FF2B5EF4-FFF2-40B4-BE49-F238E27FC236}">
                <a16:creationId xmlns:a16="http://schemas.microsoft.com/office/drawing/2014/main" id="{AD5C0D2B-E527-0278-4147-CA5294E2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735" y="261257"/>
            <a:ext cx="1204837" cy="11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form 10">
            <a:extLst>
              <a:ext uri="{FF2B5EF4-FFF2-40B4-BE49-F238E27FC236}">
                <a16:creationId xmlns:a16="http://schemas.microsoft.com/office/drawing/2014/main" id="{0386F4F0-2B41-739E-C3D5-34351FC176FF}"/>
              </a:ext>
            </a:extLst>
          </p:cNvPr>
          <p:cNvSpPr/>
          <p:nvPr/>
        </p:nvSpPr>
        <p:spPr>
          <a:xfrm>
            <a:off x="7797800" y="2099929"/>
            <a:ext cx="4394200" cy="3130350"/>
          </a:xfrm>
          <a:custGeom>
            <a:avLst/>
            <a:gdLst/>
            <a:ahLst/>
            <a:cxnLst/>
            <a:rect l="l" t="t" r="r" b="b"/>
            <a:pathLst>
              <a:path w="5396079" h="3514946">
                <a:moveTo>
                  <a:pt x="0" y="0"/>
                </a:moveTo>
                <a:lnTo>
                  <a:pt x="5396079" y="0"/>
                </a:lnTo>
                <a:lnTo>
                  <a:pt x="5396079" y="3514946"/>
                </a:lnTo>
                <a:lnTo>
                  <a:pt x="0" y="3514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874008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12287-D4E1-9659-30E7-E25DB10AF2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3114" y="315686"/>
            <a:ext cx="9154886" cy="65314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5EBEB4-8E79-3568-A87A-4C6267974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001" y="2006599"/>
            <a:ext cx="8775699" cy="3251201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soil moisture sensor is inserted into the soil to measure water content.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sensor output is connected to the Arduino analog input pin.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processes the sensor data and converts it into percentage form.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moisture value is displayed on an OLED screen in real time.</a:t>
            </a:r>
          </a:p>
          <a:p>
            <a:pPr algn="just"/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93">
            <a:extLst>
              <a:ext uri="{FF2B5EF4-FFF2-40B4-BE49-F238E27FC236}">
                <a16:creationId xmlns:a16="http://schemas.microsoft.com/office/drawing/2014/main" id="{C1654A63-12D2-B59F-7457-84CF59F11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920" y="261257"/>
            <a:ext cx="1211710" cy="11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91">
            <a:extLst>
              <a:ext uri="{FF2B5EF4-FFF2-40B4-BE49-F238E27FC236}">
                <a16:creationId xmlns:a16="http://schemas.microsoft.com/office/drawing/2014/main" id="{32B394D1-8F3E-0238-658D-1EBE52E21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735" y="261257"/>
            <a:ext cx="1204837" cy="11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form 10">
            <a:extLst>
              <a:ext uri="{FF2B5EF4-FFF2-40B4-BE49-F238E27FC236}">
                <a16:creationId xmlns:a16="http://schemas.microsoft.com/office/drawing/2014/main" id="{EF13852E-FA76-4AC2-8558-F2AD9CC634EB}"/>
              </a:ext>
            </a:extLst>
          </p:cNvPr>
          <p:cNvSpPr/>
          <p:nvPr/>
        </p:nvSpPr>
        <p:spPr>
          <a:xfrm>
            <a:off x="8864600" y="2184400"/>
            <a:ext cx="3327400" cy="3848585"/>
          </a:xfrm>
          <a:custGeom>
            <a:avLst/>
            <a:gdLst/>
            <a:ahLst/>
            <a:cxnLst/>
            <a:rect l="l" t="t" r="r" b="b"/>
            <a:pathLst>
              <a:path w="5688225" h="4337271">
                <a:moveTo>
                  <a:pt x="0" y="0"/>
                </a:moveTo>
                <a:lnTo>
                  <a:pt x="5688225" y="0"/>
                </a:lnTo>
                <a:lnTo>
                  <a:pt x="5688225" y="4337271"/>
                </a:lnTo>
                <a:lnTo>
                  <a:pt x="0" y="4337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854238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E3633-2EEA-CA90-A08C-0AE804233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81576-E8A6-FB0A-836B-388B101E4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371" y="1825625"/>
            <a:ext cx="11157858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Soil Moisture Sensing Module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senses the amount of water present in the soil.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moisture indicates Dry soil, medium indicates Normal, and high indicates Wet soil.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sensor sends analog data to Arduino for processing.</a:t>
            </a:r>
          </a:p>
          <a:p>
            <a:endParaRPr lang="en-IN" dirty="0"/>
          </a:p>
        </p:txBody>
      </p:sp>
      <p:pic>
        <p:nvPicPr>
          <p:cNvPr id="4" name="Picture 491">
            <a:extLst>
              <a:ext uri="{FF2B5EF4-FFF2-40B4-BE49-F238E27FC236}">
                <a16:creationId xmlns:a16="http://schemas.microsoft.com/office/drawing/2014/main" id="{2EEA1866-746C-BBD3-F6AA-99E43059A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735" y="261257"/>
            <a:ext cx="1204837" cy="11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93">
            <a:extLst>
              <a:ext uri="{FF2B5EF4-FFF2-40B4-BE49-F238E27FC236}">
                <a16:creationId xmlns:a16="http://schemas.microsoft.com/office/drawing/2014/main" id="{03147765-CFE2-A8FF-B5E7-10F130C0C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920" y="261257"/>
            <a:ext cx="1211710" cy="11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9727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4AA20-8563-BC61-D694-ACAE2C396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74405-F83B-DB81-E9F1-B495BA48A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358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Processing and Display Module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processes sensor data and determines soil condition.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OLED display shows moisture percentage along with Dry / Normal / Wet status.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provides real-time monitoring.</a:t>
            </a:r>
          </a:p>
          <a:p>
            <a:endParaRPr lang="en-IN" dirty="0"/>
          </a:p>
        </p:txBody>
      </p:sp>
      <p:pic>
        <p:nvPicPr>
          <p:cNvPr id="4" name="Picture 491">
            <a:extLst>
              <a:ext uri="{FF2B5EF4-FFF2-40B4-BE49-F238E27FC236}">
                <a16:creationId xmlns:a16="http://schemas.microsoft.com/office/drawing/2014/main" id="{1E302753-E45D-C1E5-BB7F-01844D75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735" y="261257"/>
            <a:ext cx="1204837" cy="11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93">
            <a:extLst>
              <a:ext uri="{FF2B5EF4-FFF2-40B4-BE49-F238E27FC236}">
                <a16:creationId xmlns:a16="http://schemas.microsoft.com/office/drawing/2014/main" id="{186A7A26-2A57-7C03-EC76-18B9BC205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920" y="261257"/>
            <a:ext cx="1211710" cy="11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reeform 9">
            <a:extLst>
              <a:ext uri="{FF2B5EF4-FFF2-40B4-BE49-F238E27FC236}">
                <a16:creationId xmlns:a16="http://schemas.microsoft.com/office/drawing/2014/main" id="{88634D84-C5F0-421E-9670-EAC837E0D236}"/>
              </a:ext>
            </a:extLst>
          </p:cNvPr>
          <p:cNvSpPr/>
          <p:nvPr/>
        </p:nvSpPr>
        <p:spPr>
          <a:xfrm>
            <a:off x="7696200" y="2070100"/>
            <a:ext cx="3914818" cy="3609022"/>
          </a:xfrm>
          <a:custGeom>
            <a:avLst/>
            <a:gdLst/>
            <a:ahLst/>
            <a:cxnLst/>
            <a:rect l="l" t="t" r="r" b="b"/>
            <a:pathLst>
              <a:path w="6608468" h="6103655">
                <a:moveTo>
                  <a:pt x="0" y="0"/>
                </a:moveTo>
                <a:lnTo>
                  <a:pt x="6608469" y="0"/>
                </a:lnTo>
                <a:lnTo>
                  <a:pt x="6608469" y="6103655"/>
                </a:lnTo>
                <a:lnTo>
                  <a:pt x="0" y="61036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882867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2604B-DD5C-CFE9-1768-A29B3C202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52B5F-0005-AC30-D9BA-A54A74022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825625"/>
            <a:ext cx="73914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soil moisture sensor is connected to Arduino analog pin A0.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OLED display is connected using I2C communication (SDA and SCL).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continuously reads soil moisture data.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the value, soil condition is displayed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Dry, Normal, or Wet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pic>
        <p:nvPicPr>
          <p:cNvPr id="4" name="Picture 491">
            <a:extLst>
              <a:ext uri="{FF2B5EF4-FFF2-40B4-BE49-F238E27FC236}">
                <a16:creationId xmlns:a16="http://schemas.microsoft.com/office/drawing/2014/main" id="{3B17037F-7C15-A541-D858-F6806621F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735" y="261257"/>
            <a:ext cx="1204837" cy="11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93">
            <a:extLst>
              <a:ext uri="{FF2B5EF4-FFF2-40B4-BE49-F238E27FC236}">
                <a16:creationId xmlns:a16="http://schemas.microsoft.com/office/drawing/2014/main" id="{CFDE7560-0406-C626-CC1D-A5DE44AD7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920" y="261257"/>
            <a:ext cx="1211710" cy="11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2" descr="Uploaded image">
            <a:extLst>
              <a:ext uri="{FF2B5EF4-FFF2-40B4-BE49-F238E27FC236}">
                <a16:creationId xmlns:a16="http://schemas.microsoft.com/office/drawing/2014/main" id="{91FE4D5A-E1F4-FC9D-1551-1FFDA3030A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4" descr="Uploaded image">
            <a:extLst>
              <a:ext uri="{FF2B5EF4-FFF2-40B4-BE49-F238E27FC236}">
                <a16:creationId xmlns:a16="http://schemas.microsoft.com/office/drawing/2014/main" id="{68C0315E-97DA-9DB8-B270-324FA2A2D2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FE8E2256-A938-660C-EB0B-C46CE3E78F30}"/>
              </a:ext>
            </a:extLst>
          </p:cNvPr>
          <p:cNvSpPr/>
          <p:nvPr/>
        </p:nvSpPr>
        <p:spPr>
          <a:xfrm>
            <a:off x="7696200" y="2004044"/>
            <a:ext cx="4495800" cy="3459511"/>
          </a:xfrm>
          <a:custGeom>
            <a:avLst/>
            <a:gdLst/>
            <a:ahLst/>
            <a:cxnLst/>
            <a:rect l="l" t="t" r="r" b="b"/>
            <a:pathLst>
              <a:path w="5488155" h="3925555">
                <a:moveTo>
                  <a:pt x="0" y="0"/>
                </a:moveTo>
                <a:lnTo>
                  <a:pt x="5488155" y="0"/>
                </a:lnTo>
                <a:lnTo>
                  <a:pt x="5488155" y="3925555"/>
                </a:lnTo>
                <a:lnTo>
                  <a:pt x="0" y="3925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021878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B174B-3EEC-4651-650C-E0FAD80C6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483C1-0536-49D3-8D09-10D6A37D0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9" y="2209799"/>
            <a:ext cx="10994571" cy="39671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Soil Moisture Sensor    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       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Arduino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(Moisture Analysis)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 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OLED Display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(Dry / Normal / Wet)</a:t>
            </a:r>
          </a:p>
          <a:p>
            <a:endParaRPr lang="en-IN" dirty="0"/>
          </a:p>
        </p:txBody>
      </p:sp>
      <p:pic>
        <p:nvPicPr>
          <p:cNvPr id="4" name="Picture 491">
            <a:extLst>
              <a:ext uri="{FF2B5EF4-FFF2-40B4-BE49-F238E27FC236}">
                <a16:creationId xmlns:a16="http://schemas.microsoft.com/office/drawing/2014/main" id="{15F5BAB8-949A-AF11-55B5-90A185C94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735" y="261257"/>
            <a:ext cx="1204837" cy="11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93">
            <a:extLst>
              <a:ext uri="{FF2B5EF4-FFF2-40B4-BE49-F238E27FC236}">
                <a16:creationId xmlns:a16="http://schemas.microsoft.com/office/drawing/2014/main" id="{0CA81BF2-DEEF-29ED-0DD1-72633A87B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920" y="261257"/>
            <a:ext cx="1211710" cy="11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5422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1E6E0-21A7-02DD-FD38-87A37A8C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USED </a:t>
            </a:r>
            <a:b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E5818D0-2145-6F1E-7590-E1C58A9ECA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4774553"/>
              </p:ext>
            </p:extLst>
          </p:nvPr>
        </p:nvGraphicFramePr>
        <p:xfrm>
          <a:off x="1041400" y="1854200"/>
          <a:ext cx="10312400" cy="3746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24450">
                  <a:extLst>
                    <a:ext uri="{9D8B030D-6E8A-4147-A177-3AD203B41FA5}">
                      <a16:colId xmlns:a16="http://schemas.microsoft.com/office/drawing/2014/main" val="4217971459"/>
                    </a:ext>
                  </a:extLst>
                </a:gridCol>
                <a:gridCol w="5187950">
                  <a:extLst>
                    <a:ext uri="{9D8B030D-6E8A-4147-A177-3AD203B41FA5}">
                      <a16:colId xmlns:a16="http://schemas.microsoft.com/office/drawing/2014/main" val="3043269190"/>
                    </a:ext>
                  </a:extLst>
                </a:gridCol>
              </a:tblGrid>
              <a:tr h="936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Moisture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499316"/>
                  </a:ext>
                </a:extLst>
              </a:tr>
              <a:tr h="936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– 30 %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DRY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3844266"/>
                  </a:ext>
                </a:extLst>
              </a:tr>
              <a:tr h="936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 – 70 %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308217"/>
                  </a:ext>
                </a:extLst>
              </a:tr>
              <a:tr h="936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 – 100 %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WET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6565136"/>
                  </a:ext>
                </a:extLst>
              </a:tr>
            </a:tbl>
          </a:graphicData>
        </a:graphic>
      </p:graphicFrame>
      <p:pic>
        <p:nvPicPr>
          <p:cNvPr id="10" name="Picture 491">
            <a:extLst>
              <a:ext uri="{FF2B5EF4-FFF2-40B4-BE49-F238E27FC236}">
                <a16:creationId xmlns:a16="http://schemas.microsoft.com/office/drawing/2014/main" id="{65A416C4-25D7-229F-2AF4-B312E19EB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735" y="261257"/>
            <a:ext cx="1204837" cy="11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93">
            <a:extLst>
              <a:ext uri="{FF2B5EF4-FFF2-40B4-BE49-F238E27FC236}">
                <a16:creationId xmlns:a16="http://schemas.microsoft.com/office/drawing/2014/main" id="{FC8D5589-FAC5-38D4-746E-2C634811D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920" y="261257"/>
            <a:ext cx="1211710" cy="11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320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84726-79FE-5C3A-7545-E45B38C8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2FD45-D009-4D80-E570-12DBE7179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detects soil moisture and classifies it into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Dry, Normal, and Wet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Dry soil shows low moisture percentage, while wet soil shows high percentage.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condition indicates sufficient moisture for healthy plant growth.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helps avoid over-irrigation and under-irrigation.</a:t>
            </a:r>
          </a:p>
          <a:p>
            <a:endParaRPr lang="en-IN" dirty="0"/>
          </a:p>
        </p:txBody>
      </p:sp>
      <p:pic>
        <p:nvPicPr>
          <p:cNvPr id="5" name="Picture 491">
            <a:extLst>
              <a:ext uri="{FF2B5EF4-FFF2-40B4-BE49-F238E27FC236}">
                <a16:creationId xmlns:a16="http://schemas.microsoft.com/office/drawing/2014/main" id="{D44F7764-B112-0DFA-FB37-81951404F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735" y="261257"/>
            <a:ext cx="1204837" cy="11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93">
            <a:extLst>
              <a:ext uri="{FF2B5EF4-FFF2-40B4-BE49-F238E27FC236}">
                <a16:creationId xmlns:a16="http://schemas.microsoft.com/office/drawing/2014/main" id="{9BCDC8E4-D26E-8371-7336-596A51A21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920" y="261257"/>
            <a:ext cx="1211710" cy="11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9838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A2415-8933-7406-DEB2-E125B4B42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802AE0-625B-D156-FF65-7C9C020F4E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54629" y="1939252"/>
            <a:ext cx="8153400" cy="293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motor ON/OFF based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Dry/Wet status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IoT-based mobile monitoring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SMS alert when soil becomes dry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Solar powered irrigation system</a:t>
            </a:r>
          </a:p>
        </p:txBody>
      </p:sp>
      <p:pic>
        <p:nvPicPr>
          <p:cNvPr id="5" name="Picture 491">
            <a:extLst>
              <a:ext uri="{FF2B5EF4-FFF2-40B4-BE49-F238E27FC236}">
                <a16:creationId xmlns:a16="http://schemas.microsoft.com/office/drawing/2014/main" id="{C6FE8A10-FA7E-E7A7-A86E-63AE2BF85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735" y="261257"/>
            <a:ext cx="1204837" cy="11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93">
            <a:extLst>
              <a:ext uri="{FF2B5EF4-FFF2-40B4-BE49-F238E27FC236}">
                <a16:creationId xmlns:a16="http://schemas.microsoft.com/office/drawing/2014/main" id="{F3796A21-3DA8-A6BA-F4FB-850EF2934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920" y="261257"/>
            <a:ext cx="1211710" cy="11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6845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8BE4B-217C-4DA3-D615-2893A2E9A9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7703" y="298938"/>
            <a:ext cx="9144000" cy="643671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85BAA7-D14B-E9A4-6B8F-592CA6F5F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41937"/>
            <a:ext cx="9144000" cy="4536831"/>
          </a:xfrm>
        </p:spPr>
        <p:txBody>
          <a:bodyPr>
            <a:normAutofit/>
          </a:bodyPr>
          <a:lstStyle/>
          <a:p>
            <a:pPr algn="just"/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7CBE5B6-D0EF-4908-31C0-6F98B408671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59227" y="1567429"/>
            <a:ext cx="8915401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effectively monitors soil moisture and classifies it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Dry, Normal, or Wet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OLED display provides clear real-time indication of soil condition.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cost-effective, simple, and suitable for agricultural use.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saving water and improving crop productivity.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493">
            <a:extLst>
              <a:ext uri="{FF2B5EF4-FFF2-40B4-BE49-F238E27FC236}">
                <a16:creationId xmlns:a16="http://schemas.microsoft.com/office/drawing/2014/main" id="{C0C7ECC7-CF8B-4CF8-2C06-741D29FDB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920" y="261257"/>
            <a:ext cx="1211710" cy="11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91">
            <a:extLst>
              <a:ext uri="{FF2B5EF4-FFF2-40B4-BE49-F238E27FC236}">
                <a16:creationId xmlns:a16="http://schemas.microsoft.com/office/drawing/2014/main" id="{52E73803-1BF9-1F6A-696B-263BED4DF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735" y="261257"/>
            <a:ext cx="1204837" cy="11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8896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725B1-138F-954B-08F7-2852594DE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IN" sz="29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  </a:t>
            </a:r>
            <a:br>
              <a:rPr lang="en-IN" sz="29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endParaRPr lang="en-IN" sz="36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30C6BD-6C10-080C-2508-88FE757B4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500" y="2197100"/>
            <a:ext cx="10321470" cy="3979863"/>
          </a:xfrm>
        </p:spPr>
        <p:txBody>
          <a:bodyPr>
            <a:normAutofit fontScale="77500" lnSpcReduction="20000"/>
          </a:bodyPr>
          <a:lstStyle/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Smith, J., Brown, A., &amp; Wilson, R.,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“Smart Irrigation System Using Soil Moisture Sensors,”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International Conference on Smart Agriculture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2019.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Kumar, S., &amp; Rao, V.,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“IoT Based Soil Moisture Monitoring System for Precision Agriculture,”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Advanced Research in Computer and Communication Engineering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Vol. 9, Issue 5, 2020.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Patel, R., Shah, M., &amp; Desai, K.,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“Precision Farming Using Soil Moisture Sensors and OLED Display,”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Engineering Research &amp; Technology (IJERT)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Vol. 10, Issue 3, 2021.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Lee, J., Kim, H., &amp; Park, S.,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“Automated Agriculture System Based on Arduino and Sensor Networks,”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Journal (MDPI)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Vol. 22, No. 4, 2022.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3" name="Picture 491">
            <a:extLst>
              <a:ext uri="{FF2B5EF4-FFF2-40B4-BE49-F238E27FC236}">
                <a16:creationId xmlns:a16="http://schemas.microsoft.com/office/drawing/2014/main" id="{88B5D742-AADB-1555-9926-A3F7457F4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6028" y="156431"/>
            <a:ext cx="1576829" cy="1534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93">
            <a:extLst>
              <a:ext uri="{FF2B5EF4-FFF2-40B4-BE49-F238E27FC236}">
                <a16:creationId xmlns:a16="http://schemas.microsoft.com/office/drawing/2014/main" id="{ED166182-A175-1EB7-20BC-808FAF584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920" y="261257"/>
            <a:ext cx="1211710" cy="11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33282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818</Words>
  <Application>Microsoft Office PowerPoint</Application>
  <PresentationFormat>Widescreen</PresentationFormat>
  <Paragraphs>108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Canva Sans Bold</vt:lpstr>
      <vt:lpstr>Times New Roman</vt:lpstr>
      <vt:lpstr>Wingdings</vt:lpstr>
      <vt:lpstr>Office Theme</vt:lpstr>
      <vt:lpstr> SOIL MOISTURE MONITORING USING AURDINO WITH OLED DISPLAY</vt:lpstr>
      <vt:lpstr>INTRODUCTION</vt:lpstr>
      <vt:lpstr>LITERATURE REVIEW</vt:lpstr>
      <vt:lpstr>PROBLEM STATEMENT</vt:lpstr>
      <vt:lpstr>OBJECTIVES</vt:lpstr>
      <vt:lpstr>PROPOSED METHOD</vt:lpstr>
      <vt:lpstr>MODULE  </vt:lpstr>
      <vt:lpstr>MODULE  </vt:lpstr>
      <vt:lpstr>CIRCUIT EXPLANATION</vt:lpstr>
      <vt:lpstr>BLOCK DIAGRAM </vt:lpstr>
      <vt:lpstr>LOGIC USED  </vt:lpstr>
      <vt:lpstr>RESULT AND DISCUSSION</vt:lpstr>
      <vt:lpstr>FUTURE SCOPE</vt:lpstr>
      <vt:lpstr>CONCLUSION</vt:lpstr>
      <vt:lpstr>                                                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 Design and Implementation Of an Arduino –Based           Automatic Street Lighting System</dc:title>
  <dc:creator>madhavan4244@gmail.com</dc:creator>
  <cp:lastModifiedBy>devadharshini dharshini</cp:lastModifiedBy>
  <cp:revision>17</cp:revision>
  <dcterms:created xsi:type="dcterms:W3CDTF">2025-10-05T16:06:11Z</dcterms:created>
  <dcterms:modified xsi:type="dcterms:W3CDTF">2025-12-23T16:03:15Z</dcterms:modified>
</cp:coreProperties>
</file>